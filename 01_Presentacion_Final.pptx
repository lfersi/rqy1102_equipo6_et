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47a049f9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f47a049f99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47a049f9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3f47a049f99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47a049f9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f47a049f99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47a049f9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f47a049f99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f47a049f99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g3f47a049f99_0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47a049f99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f47a049f99_0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47a049f99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3f47a049f99_0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f47a049f99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f47a049f99_0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slow">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12.png"/><Relationship Id="rId5"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EscuelaIT Duoc UC - Escuela de Informática y Telecomunicaciones Duoc UC - Duoc  UC | LinkedIn" id="84" name="Google Shape;84;p13"/>
          <p:cNvPicPr preferRelativeResize="0"/>
          <p:nvPr/>
        </p:nvPicPr>
        <p:blipFill rotWithShape="1">
          <a:blip r:embed="rId3">
            <a:alphaModFix/>
          </a:blip>
          <a:srcRect b="0" l="0" r="0" t="0"/>
          <a:stretch/>
        </p:blipFill>
        <p:spPr>
          <a:xfrm>
            <a:off x="8024529" y="495097"/>
            <a:ext cx="3141406" cy="785352"/>
          </a:xfrm>
          <a:prstGeom prst="rect">
            <a:avLst/>
          </a:prstGeom>
          <a:noFill/>
          <a:ln>
            <a:noFill/>
          </a:ln>
        </p:spPr>
      </p:pic>
      <p:sp>
        <p:nvSpPr>
          <p:cNvPr id="85" name="Google Shape;85;p13"/>
          <p:cNvSpPr txBox="1"/>
          <p:nvPr/>
        </p:nvSpPr>
        <p:spPr>
          <a:xfrm>
            <a:off x="1" y="2707792"/>
            <a:ext cx="12192000" cy="1139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4400" u="none" cap="none" strike="noStrike">
                <a:solidFill>
                  <a:schemeClr val="dk1"/>
                </a:solidFill>
                <a:latin typeface="Calibri"/>
                <a:ea typeface="Calibri"/>
                <a:cs typeface="Calibri"/>
                <a:sym typeface="Calibri"/>
              </a:rPr>
              <a:t>PROYECTO “</a:t>
            </a:r>
            <a:r>
              <a:rPr lang="es-CL" sz="4400">
                <a:solidFill>
                  <a:schemeClr val="dk1"/>
                </a:solidFill>
                <a:latin typeface="Calibri"/>
                <a:ea typeface="Calibri"/>
                <a:cs typeface="Calibri"/>
                <a:sym typeface="Calibri"/>
              </a:rPr>
              <a:t>El Mirador”</a:t>
            </a:r>
            <a:endParaRPr/>
          </a:p>
          <a:p>
            <a:pPr indent="0" lvl="0" marL="0" marR="0" rtl="0" algn="ctr">
              <a:spcBef>
                <a:spcPts val="0"/>
              </a:spcBef>
              <a:spcAft>
                <a:spcPts val="0"/>
              </a:spcAft>
              <a:buNone/>
            </a:pPr>
            <a:r>
              <a:rPr b="0" i="0" lang="es-CL" sz="2400" u="none" cap="none" strike="noStrike">
                <a:solidFill>
                  <a:schemeClr val="dk1"/>
                </a:solidFill>
                <a:latin typeface="Calibri"/>
                <a:ea typeface="Calibri"/>
                <a:cs typeface="Calibri"/>
                <a:sym typeface="Calibri"/>
              </a:rPr>
              <a:t>INGENIERÍA DE SOFTWARE | RQY1102</a:t>
            </a:r>
            <a:endParaRPr b="0" i="0" sz="2400" u="none" cap="none" strike="noStrike">
              <a:solidFill>
                <a:schemeClr val="dk1"/>
              </a:solidFill>
              <a:latin typeface="Calibri"/>
              <a:ea typeface="Calibri"/>
              <a:cs typeface="Calibri"/>
              <a:sym typeface="Calibri"/>
            </a:endParaRPr>
          </a:p>
        </p:txBody>
      </p:sp>
      <p:pic>
        <p:nvPicPr>
          <p:cNvPr descr="EscuelaIT Duoc UC - Escuela de Informática y Telecomunicaciones Duoc UC - Duoc  UC | LinkedIn" id="86" name="Google Shape;86;p13"/>
          <p:cNvPicPr preferRelativeResize="0"/>
          <p:nvPr/>
        </p:nvPicPr>
        <p:blipFill rotWithShape="1">
          <a:blip r:embed="rId3">
            <a:alphaModFix/>
          </a:blip>
          <a:srcRect b="0" l="0" r="0" t="0"/>
          <a:stretch/>
        </p:blipFill>
        <p:spPr>
          <a:xfrm>
            <a:off x="6097963" y="4463247"/>
            <a:ext cx="4536009" cy="1144785"/>
          </a:xfrm>
          <a:prstGeom prst="rect">
            <a:avLst/>
          </a:prstGeom>
          <a:noFill/>
          <a:ln>
            <a:noFill/>
          </a:ln>
        </p:spPr>
      </p:pic>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EscuelaIT Duoc UC - Escuela de Informática y Telecomunicaciones Duoc UC - Duoc  UC | LinkedIn" id="91" name="Google Shape;91;p14"/>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92" name="Google Shape;92;p14"/>
          <p:cNvSpPr/>
          <p:nvPr/>
        </p:nvSpPr>
        <p:spPr>
          <a:xfrm>
            <a:off x="4280051" y="3243319"/>
            <a:ext cx="7633500" cy="1359600"/>
          </a:xfrm>
          <a:prstGeom prst="roundRect">
            <a:avLst>
              <a:gd fmla="val 10000" name="adj"/>
            </a:avLst>
          </a:prstGeom>
          <a:gradFill>
            <a:gsLst>
              <a:gs pos="0">
                <a:srgbClr val="6EA2D9"/>
              </a:gs>
              <a:gs pos="50000">
                <a:srgbClr val="5197DA"/>
              </a:gs>
              <a:gs pos="100000">
                <a:srgbClr val="4185C7"/>
              </a:gs>
            </a:gsLst>
            <a:lin ang="5400012" scaled="0"/>
          </a:gradFill>
          <a:ln>
            <a:noFill/>
          </a:ln>
          <a:effectLst>
            <a:outerShdw blurRad="57150" rotWithShape="0" algn="ctr" dir="5400000" dist="19050">
              <a:srgbClr val="000000">
                <a:alpha val="631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txBox="1"/>
          <p:nvPr/>
        </p:nvSpPr>
        <p:spPr>
          <a:xfrm>
            <a:off x="5942654" y="3243319"/>
            <a:ext cx="5970900" cy="1359600"/>
          </a:xfrm>
          <a:prstGeom prst="rect">
            <a:avLst/>
          </a:prstGeom>
          <a:noFill/>
          <a:ln>
            <a:noFill/>
          </a:ln>
        </p:spPr>
        <p:txBody>
          <a:bodyPr anchorCtr="0" anchor="t" bIns="99050" lIns="99050" spcFirstLastPara="1" rIns="99050" wrap="square" tIns="99050">
            <a:noAutofit/>
          </a:bodyPr>
          <a:lstStyle/>
          <a:p>
            <a:pPr indent="0" lvl="0" marL="0" marR="0" rtl="0" algn="l">
              <a:lnSpc>
                <a:spcPct val="90000"/>
              </a:lnSpc>
              <a:spcBef>
                <a:spcPts val="0"/>
              </a:spcBef>
              <a:spcAft>
                <a:spcPts val="0"/>
              </a:spcAft>
              <a:buClr>
                <a:schemeClr val="lt1"/>
              </a:buClr>
              <a:buSzPts val="2600"/>
              <a:buFont typeface="Calibri"/>
              <a:buNone/>
            </a:pPr>
            <a:r>
              <a:rPr lang="es-CL" sz="2600">
                <a:solidFill>
                  <a:schemeClr val="lt1"/>
                </a:solidFill>
                <a:latin typeface="Calibri"/>
                <a:ea typeface="Calibri"/>
                <a:cs typeface="Calibri"/>
                <a:sym typeface="Calibri"/>
              </a:rPr>
              <a:t>Fernando Chamorro Garrido</a:t>
            </a:r>
            <a:endParaRPr b="0" i="0" sz="2600" u="none" cap="none" strike="noStrike">
              <a:solidFill>
                <a:schemeClr val="lt1"/>
              </a:solidFill>
              <a:latin typeface="Calibri"/>
              <a:ea typeface="Calibri"/>
              <a:cs typeface="Calibri"/>
              <a:sym typeface="Calibri"/>
            </a:endParaRPr>
          </a:p>
          <a:p>
            <a:pPr indent="-228600" lvl="1" marL="228600" marR="0" rtl="0" algn="l">
              <a:lnSpc>
                <a:spcPct val="90000"/>
              </a:lnSpc>
              <a:spcBef>
                <a:spcPts val="91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Miembro</a:t>
            </a:r>
            <a:endParaRPr b="0" i="0" sz="2000" u="none" cap="none" strike="noStrike">
              <a:solidFill>
                <a:schemeClr val="lt1"/>
              </a:solidFill>
              <a:latin typeface="Calibri"/>
              <a:ea typeface="Calibri"/>
              <a:cs typeface="Calibri"/>
              <a:sym typeface="Calibri"/>
            </a:endParaRPr>
          </a:p>
          <a:p>
            <a:pPr indent="0" lvl="0" marL="914400" marR="0" rtl="0" algn="l">
              <a:lnSpc>
                <a:spcPct val="90000"/>
              </a:lnSpc>
              <a:spcBef>
                <a:spcPts val="300"/>
              </a:spcBef>
              <a:spcAft>
                <a:spcPts val="0"/>
              </a:spcAft>
              <a:buNone/>
            </a:pPr>
            <a:r>
              <a:t/>
            </a:r>
            <a:endParaRPr b="0" i="0" sz="2000" u="none" cap="none" strike="noStrike">
              <a:solidFill>
                <a:schemeClr val="lt1"/>
              </a:solidFill>
              <a:latin typeface="Calibri"/>
              <a:ea typeface="Calibri"/>
              <a:cs typeface="Calibri"/>
              <a:sym typeface="Calibri"/>
            </a:endParaRPr>
          </a:p>
        </p:txBody>
      </p:sp>
      <p:sp>
        <p:nvSpPr>
          <p:cNvPr id="94" name="Google Shape;94;p14"/>
          <p:cNvSpPr/>
          <p:nvPr/>
        </p:nvSpPr>
        <p:spPr>
          <a:xfrm>
            <a:off x="4416005" y="3379273"/>
            <a:ext cx="1526700" cy="1087500"/>
          </a:xfrm>
          <a:prstGeom prst="roundRect">
            <a:avLst>
              <a:gd fmla="val 10000" name="adj"/>
            </a:avLst>
          </a:prstGeom>
          <a:solidFill>
            <a:srgbClr val="C1D2EA"/>
          </a:solidFill>
          <a:ln>
            <a:noFill/>
          </a:ln>
          <a:effectLst>
            <a:outerShdw blurRad="57150" rotWithShape="0" algn="ctr" dir="5400000" dist="19050">
              <a:srgbClr val="000000">
                <a:alpha val="631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CL" sz="1800" u="none" cap="none" strike="noStrike">
                <a:solidFill>
                  <a:srgbClr val="757070"/>
                </a:solidFill>
                <a:latin typeface="Calibri"/>
                <a:ea typeface="Calibri"/>
                <a:cs typeface="Calibri"/>
                <a:sym typeface="Calibri"/>
              </a:rPr>
              <a:t>PROYECTO </a:t>
            </a:r>
            <a:r>
              <a:rPr lang="es-CL" sz="1800">
                <a:solidFill>
                  <a:srgbClr val="757070"/>
                </a:solidFill>
                <a:latin typeface="Calibri"/>
                <a:ea typeface="Calibri"/>
                <a:cs typeface="Calibri"/>
                <a:sym typeface="Calibri"/>
              </a:rPr>
              <a:t>“El Mirador”</a:t>
            </a:r>
            <a:endParaRPr/>
          </a:p>
        </p:txBody>
      </p:sp>
      <p:sp>
        <p:nvSpPr>
          <p:cNvPr id="96" name="Google Shape;96;p14"/>
          <p:cNvSpPr txBox="1"/>
          <p:nvPr/>
        </p:nvSpPr>
        <p:spPr>
          <a:xfrm>
            <a:off x="238327" y="3058616"/>
            <a:ext cx="3608961"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INTEGRANTES, ROLES Y TIPO DE ORGANIZACIÓN</a:t>
            </a:r>
            <a:endParaRPr sz="1800">
              <a:solidFill>
                <a:schemeClr val="dk1"/>
              </a:solidFill>
              <a:latin typeface="Calibri"/>
              <a:ea typeface="Calibri"/>
              <a:cs typeface="Calibri"/>
              <a:sym typeface="Calibri"/>
            </a:endParaRPr>
          </a:p>
        </p:txBody>
      </p:sp>
      <p:cxnSp>
        <p:nvCxnSpPr>
          <p:cNvPr id="97" name="Google Shape;97;p14"/>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Tree>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descr="EscuelaIT Duoc UC - Escuela de Informática y Telecomunicaciones Duoc UC - Duoc  UC | LinkedIn" id="102" name="Google Shape;102;p15"/>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03" name="Google Shape;103;p15"/>
          <p:cNvSpPr txBox="1"/>
          <p:nvPr/>
        </p:nvSpPr>
        <p:spPr>
          <a:xfrm>
            <a:off x="136188" y="368928"/>
            <a:ext cx="121920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solidFill>
                <a:schemeClr val="dk1"/>
              </a:solidFill>
            </a:endParaRPr>
          </a:p>
          <a:p>
            <a:pPr indent="0" lvl="0" marL="0" marR="0" rtl="0" algn="l">
              <a:spcBef>
                <a:spcPts val="0"/>
              </a:spcBef>
              <a:spcAft>
                <a:spcPts val="0"/>
              </a:spcAft>
              <a:buNone/>
            </a:pPr>
            <a:r>
              <a:t/>
            </a:r>
            <a:endParaRPr sz="1800">
              <a:solidFill>
                <a:srgbClr val="757070"/>
              </a:solidFill>
              <a:latin typeface="Calibri"/>
              <a:ea typeface="Calibri"/>
              <a:cs typeface="Calibri"/>
              <a:sym typeface="Calibri"/>
            </a:endParaRPr>
          </a:p>
        </p:txBody>
      </p:sp>
      <p:sp>
        <p:nvSpPr>
          <p:cNvPr id="104" name="Google Shape;104;p15"/>
          <p:cNvSpPr txBox="1"/>
          <p:nvPr/>
        </p:nvSpPr>
        <p:spPr>
          <a:xfrm>
            <a:off x="0" y="1130849"/>
            <a:ext cx="1219199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DESCRIPCIÓN Y PROPUESTA DE SOLUCIÓN</a:t>
            </a:r>
            <a:endParaRPr sz="1800">
              <a:solidFill>
                <a:schemeClr val="dk1"/>
              </a:solidFill>
              <a:latin typeface="Calibri"/>
              <a:ea typeface="Calibri"/>
              <a:cs typeface="Calibri"/>
              <a:sym typeface="Calibri"/>
            </a:endParaRPr>
          </a:p>
        </p:txBody>
      </p:sp>
      <p:cxnSp>
        <p:nvCxnSpPr>
          <p:cNvPr id="105" name="Google Shape;105;p15"/>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
        <p:nvSpPr>
          <p:cNvPr id="106" name="Google Shape;106;p15"/>
          <p:cNvSpPr/>
          <p:nvPr/>
        </p:nvSpPr>
        <p:spPr>
          <a:xfrm>
            <a:off x="714909" y="2169769"/>
            <a:ext cx="4348705" cy="4092601"/>
          </a:xfrm>
          <a:prstGeom prst="roundRect">
            <a:avLst>
              <a:gd fmla="val 10901" name="adj"/>
            </a:avLst>
          </a:prstGeom>
          <a:solidFill>
            <a:schemeClr val="lt1"/>
          </a:solidFill>
          <a:ln cap="flat" cmpd="sng" w="12700">
            <a:solidFill>
              <a:schemeClr val="accen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s-CL" sz="2800" u="sng">
                <a:solidFill>
                  <a:schemeClr val="dk1"/>
                </a:solidFill>
                <a:latin typeface="Calibri"/>
                <a:ea typeface="Calibri"/>
                <a:cs typeface="Calibri"/>
                <a:sym typeface="Calibri"/>
              </a:rPr>
              <a:t>Problema / Necesidad del Cliente</a:t>
            </a:r>
            <a:endParaRPr/>
          </a:p>
          <a:p>
            <a:pPr indent="0" lvl="0" marL="0" marR="0" rtl="0" algn="ctr">
              <a:spcBef>
                <a:spcPts val="0"/>
              </a:spcBef>
              <a:spcAft>
                <a:spcPts val="0"/>
              </a:spcAft>
              <a:buNone/>
            </a:pPr>
            <a:r>
              <a:t/>
            </a:r>
            <a:endParaRPr sz="1800" u="sng">
              <a:solidFill>
                <a:schemeClr val="dk1"/>
              </a:solidFill>
              <a:latin typeface="Calibri"/>
              <a:ea typeface="Calibri"/>
              <a:cs typeface="Calibri"/>
              <a:sym typeface="Calibri"/>
            </a:endParaRPr>
          </a:p>
          <a:p>
            <a:pPr indent="0" lvl="0" marL="0" marR="0" rtl="0" algn="just">
              <a:spcBef>
                <a:spcPts val="0"/>
              </a:spcBef>
              <a:spcAft>
                <a:spcPts val="0"/>
              </a:spcAft>
              <a:buNone/>
            </a:pPr>
            <a:r>
              <a:rPr lang="es-CL" sz="1800">
                <a:solidFill>
                  <a:schemeClr val="dk1"/>
                </a:solidFill>
                <a:latin typeface="Calibri"/>
                <a:ea typeface="Calibri"/>
                <a:cs typeface="Calibri"/>
                <a:sym typeface="Calibri"/>
              </a:rPr>
              <a:t>El edificio “El Mirador” cuenta con una gestión compleja y cuenta con personal insuficiente.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s-CL" sz="1800">
                <a:solidFill>
                  <a:schemeClr val="dk1"/>
                </a:solidFill>
                <a:latin typeface="Calibri"/>
                <a:ea typeface="Calibri"/>
                <a:cs typeface="Calibri"/>
                <a:sym typeface="Calibri"/>
              </a:rPr>
              <a:t>Procesos manuales e ineficientes en el cobro de gastos comunes, lo que genera alta morosidad, falta de liquidez, retraso en mantenciones críticas y desconfianza por falta de transparencia.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u="sng">
              <a:solidFill>
                <a:schemeClr val="dk1"/>
              </a:solidFill>
              <a:latin typeface="Calibri"/>
              <a:ea typeface="Calibri"/>
              <a:cs typeface="Calibri"/>
              <a:sym typeface="Calibri"/>
            </a:endParaRPr>
          </a:p>
        </p:txBody>
      </p:sp>
      <p:sp>
        <p:nvSpPr>
          <p:cNvPr id="107" name="Google Shape;107;p15"/>
          <p:cNvSpPr/>
          <p:nvPr/>
        </p:nvSpPr>
        <p:spPr>
          <a:xfrm>
            <a:off x="6912079" y="2177325"/>
            <a:ext cx="4348705" cy="4092601"/>
          </a:xfrm>
          <a:prstGeom prst="roundRect">
            <a:avLst>
              <a:gd fmla="val 10901" name="adj"/>
            </a:avLst>
          </a:prstGeom>
          <a:solidFill>
            <a:schemeClr val="lt1"/>
          </a:solidFill>
          <a:ln cap="flat" cmpd="sng" w="12700">
            <a:solidFill>
              <a:schemeClr val="accen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s-CL" sz="2800" u="sng">
                <a:solidFill>
                  <a:schemeClr val="dk1"/>
                </a:solidFill>
                <a:latin typeface="Calibri"/>
                <a:ea typeface="Calibri"/>
                <a:cs typeface="Calibri"/>
                <a:sym typeface="Calibri"/>
              </a:rPr>
              <a:t>Propuesta de Solución de Software</a:t>
            </a:r>
            <a:endParaRPr/>
          </a:p>
          <a:p>
            <a:pPr indent="0" lvl="0" marL="0" marR="0" rtl="0" algn="ctr">
              <a:spcBef>
                <a:spcPts val="0"/>
              </a:spcBef>
              <a:spcAft>
                <a:spcPts val="0"/>
              </a:spcAft>
              <a:buNone/>
            </a:pPr>
            <a:r>
              <a:t/>
            </a:r>
            <a:endParaRPr sz="1800" u="sng">
              <a:solidFill>
                <a:schemeClr val="dk1"/>
              </a:solidFill>
              <a:latin typeface="Calibri"/>
              <a:ea typeface="Calibri"/>
              <a:cs typeface="Calibri"/>
              <a:sym typeface="Calibri"/>
            </a:endParaRPr>
          </a:p>
          <a:p>
            <a:pPr indent="0" lvl="0" marL="0" marR="0" rtl="0" algn="just">
              <a:spcBef>
                <a:spcPts val="0"/>
              </a:spcBef>
              <a:spcAft>
                <a:spcPts val="0"/>
              </a:spcAft>
              <a:buNone/>
            </a:pPr>
            <a:r>
              <a:rPr lang="es-CL" sz="1800">
                <a:solidFill>
                  <a:schemeClr val="dk1"/>
                </a:solidFill>
                <a:latin typeface="Calibri"/>
                <a:ea typeface="Calibri"/>
                <a:cs typeface="Calibri"/>
                <a:sym typeface="Calibri"/>
              </a:rPr>
              <a:t>Se propone el prototipo de una plataforma web interactiva para que los residentes consulten de forma autónoma su estado de cuenta, deudas y pagos en tiempo real. Esta solución automatiza el acceso a la información financiera, aportando transparencia a la comunidad y reduciendo drásticamente la carga de trabajo administrativo del escaso personal del edificio. </a:t>
            </a:r>
            <a:endParaRPr sz="1800">
              <a:solidFill>
                <a:schemeClr val="dk1"/>
              </a:solidFill>
              <a:latin typeface="Calibri"/>
              <a:ea typeface="Calibri"/>
              <a:cs typeface="Calibri"/>
              <a:sym typeface="Calibri"/>
            </a:endParaRPr>
          </a:p>
        </p:txBody>
      </p:sp>
      <p:sp>
        <p:nvSpPr>
          <p:cNvPr id="108" name="Google Shape;108;p15"/>
          <p:cNvSpPr/>
          <p:nvPr/>
        </p:nvSpPr>
        <p:spPr>
          <a:xfrm>
            <a:off x="5456903" y="3736258"/>
            <a:ext cx="1140542" cy="757084"/>
          </a:xfrm>
          <a:prstGeom prst="rightArrow">
            <a:avLst>
              <a:gd fmla="val 50000" name="adj1"/>
              <a:gd fmla="val 50000" name="adj2"/>
            </a:avLst>
          </a:prstGeom>
          <a:solidFill>
            <a:schemeClr val="accent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par>
                                <p:cTn fill="hold" nodeType="with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500"/>
                                        <p:tgtEl>
                                          <p:spTgt spid="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descr="EscuelaIT Duoc UC - Escuela de Informática y Telecomunicaciones Duoc UC - Duoc  UC | LinkedIn" id="113" name="Google Shape;113;p16"/>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14" name="Google Shape;114;p16"/>
          <p:cNvSpPr txBox="1"/>
          <p:nvPr/>
        </p:nvSpPr>
        <p:spPr>
          <a:xfrm>
            <a:off x="136188" y="368928"/>
            <a:ext cx="121920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solidFill>
                <a:schemeClr val="dk1"/>
              </a:solidFill>
            </a:endParaRPr>
          </a:p>
          <a:p>
            <a:pPr indent="0" lvl="0" marL="0" marR="0" rtl="0" algn="l">
              <a:spcBef>
                <a:spcPts val="0"/>
              </a:spcBef>
              <a:spcAft>
                <a:spcPts val="0"/>
              </a:spcAft>
              <a:buNone/>
            </a:pPr>
            <a:r>
              <a:t/>
            </a:r>
            <a:endParaRPr sz="1800">
              <a:solidFill>
                <a:srgbClr val="757070"/>
              </a:solidFill>
              <a:latin typeface="Calibri"/>
              <a:ea typeface="Calibri"/>
              <a:cs typeface="Calibri"/>
              <a:sym typeface="Calibri"/>
            </a:endParaRPr>
          </a:p>
        </p:txBody>
      </p:sp>
      <p:sp>
        <p:nvSpPr>
          <p:cNvPr id="115" name="Google Shape;115;p16"/>
          <p:cNvSpPr txBox="1"/>
          <p:nvPr/>
        </p:nvSpPr>
        <p:spPr>
          <a:xfrm>
            <a:off x="-146550" y="2366129"/>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CICLO DE VIDA DEL SOFTWARE</a:t>
            </a:r>
            <a:endParaRPr sz="1800">
              <a:solidFill>
                <a:schemeClr val="dk1"/>
              </a:solidFill>
              <a:latin typeface="Calibri"/>
              <a:ea typeface="Calibri"/>
              <a:cs typeface="Calibri"/>
              <a:sym typeface="Calibri"/>
            </a:endParaRPr>
          </a:p>
        </p:txBody>
      </p:sp>
      <p:cxnSp>
        <p:nvCxnSpPr>
          <p:cNvPr id="116" name="Google Shape;116;p16"/>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
        <p:nvSpPr>
          <p:cNvPr id="117" name="Google Shape;117;p16"/>
          <p:cNvSpPr/>
          <p:nvPr/>
        </p:nvSpPr>
        <p:spPr>
          <a:xfrm>
            <a:off x="467975" y="3022401"/>
            <a:ext cx="10962900" cy="2041800"/>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CL" sz="1700">
                <a:solidFill>
                  <a:schemeClr val="dk1"/>
                </a:solidFill>
                <a:latin typeface="Calibri"/>
                <a:ea typeface="Calibri"/>
                <a:cs typeface="Calibri"/>
                <a:sym typeface="Calibri"/>
              </a:rPr>
              <a:t>Análisis</a:t>
            </a:r>
            <a:r>
              <a:rPr lang="es-CL" sz="1700">
                <a:solidFill>
                  <a:schemeClr val="dk1"/>
                </a:solidFill>
                <a:latin typeface="Calibri"/>
                <a:ea typeface="Calibri"/>
                <a:cs typeface="Calibri"/>
                <a:sym typeface="Calibri"/>
              </a:rPr>
              <a:t>: Identificación del problema de morosidad y definición del requerimiento clave: necesidad de que los residentes consulten sus deudas y pagos de forma autónoma. </a:t>
            </a:r>
            <a:br>
              <a:rPr lang="es-CL" sz="1700">
                <a:solidFill>
                  <a:schemeClr val="dk1"/>
                </a:solidFill>
                <a:latin typeface="Calibri"/>
                <a:ea typeface="Calibri"/>
                <a:cs typeface="Calibri"/>
                <a:sym typeface="Calibri"/>
              </a:rPr>
            </a:br>
            <a:r>
              <a:rPr b="1" lang="es-CL" sz="1700">
                <a:solidFill>
                  <a:schemeClr val="dk1"/>
                </a:solidFill>
                <a:latin typeface="Calibri"/>
                <a:ea typeface="Calibri"/>
                <a:cs typeface="Calibri"/>
                <a:sym typeface="Calibri"/>
              </a:rPr>
              <a:t>Diseño</a:t>
            </a:r>
            <a:r>
              <a:rPr lang="es-CL" sz="1700">
                <a:solidFill>
                  <a:schemeClr val="dk1"/>
                </a:solidFill>
                <a:latin typeface="Calibri"/>
                <a:ea typeface="Calibri"/>
                <a:cs typeface="Calibri"/>
                <a:sym typeface="Calibri"/>
              </a:rPr>
              <a:t>: Creación del prototipo web interactivo (UI/UX), estructurando una interfaz clara e intuitiva para mostrar el estado de cuenta a los usuarios. </a:t>
            </a:r>
            <a:endParaRPr sz="1700">
              <a:solidFill>
                <a:schemeClr val="dk1"/>
              </a:solidFill>
              <a:latin typeface="Calibri"/>
              <a:ea typeface="Calibri"/>
              <a:cs typeface="Calibri"/>
              <a:sym typeface="Calibri"/>
            </a:endParaRPr>
          </a:p>
          <a:p>
            <a:pPr indent="0" lvl="0" marL="0" marR="0" rtl="0" algn="ctr">
              <a:spcBef>
                <a:spcPts val="0"/>
              </a:spcBef>
              <a:spcAft>
                <a:spcPts val="0"/>
              </a:spcAft>
              <a:buNone/>
            </a:pPr>
            <a:r>
              <a:rPr b="1" lang="es-CL" sz="1700">
                <a:solidFill>
                  <a:schemeClr val="dk1"/>
                </a:solidFill>
                <a:latin typeface="Calibri"/>
                <a:ea typeface="Calibri"/>
                <a:cs typeface="Calibri"/>
                <a:sym typeface="Calibri"/>
              </a:rPr>
              <a:t>Desarrollo</a:t>
            </a:r>
            <a:r>
              <a:rPr lang="es-CL" sz="1700">
                <a:solidFill>
                  <a:schemeClr val="dk1"/>
                </a:solidFill>
                <a:latin typeface="Calibri"/>
                <a:ea typeface="Calibri"/>
                <a:cs typeface="Calibri"/>
                <a:sym typeface="Calibri"/>
              </a:rPr>
              <a:t>: Construcción de la plataforma web y prototipado necesario para consultar la información financiera y de cuenta. </a:t>
            </a:r>
            <a:endParaRPr sz="1700">
              <a:solidFill>
                <a:schemeClr val="dk1"/>
              </a:solidFill>
              <a:latin typeface="Calibri"/>
              <a:ea typeface="Calibri"/>
              <a:cs typeface="Calibri"/>
              <a:sym typeface="Calibri"/>
            </a:endParaRPr>
          </a:p>
          <a:p>
            <a:pPr indent="0" lvl="0" marL="0" marR="0" rtl="0" algn="ctr">
              <a:spcBef>
                <a:spcPts val="0"/>
              </a:spcBef>
              <a:spcAft>
                <a:spcPts val="0"/>
              </a:spcAft>
              <a:buNone/>
            </a:pPr>
            <a:r>
              <a:rPr b="1" lang="es-CL" sz="1700">
                <a:solidFill>
                  <a:schemeClr val="dk1"/>
                </a:solidFill>
                <a:latin typeface="Calibri"/>
                <a:ea typeface="Calibri"/>
                <a:cs typeface="Calibri"/>
                <a:sym typeface="Calibri"/>
              </a:rPr>
              <a:t>Testing</a:t>
            </a:r>
            <a:r>
              <a:rPr lang="es-CL" sz="1700">
                <a:solidFill>
                  <a:schemeClr val="dk1"/>
                </a:solidFill>
                <a:latin typeface="Calibri"/>
                <a:ea typeface="Calibri"/>
                <a:cs typeface="Calibri"/>
                <a:sym typeface="Calibri"/>
              </a:rPr>
              <a:t>: Pruebas en el prototipo testeando que cada cosa funcione correctamente.</a:t>
            </a:r>
            <a:endParaRPr sz="1700">
              <a:solidFill>
                <a:schemeClr val="dk1"/>
              </a:solidFill>
              <a:latin typeface="Calibri"/>
              <a:ea typeface="Calibri"/>
              <a:cs typeface="Calibri"/>
              <a:sym typeface="Calibri"/>
            </a:endParaRPr>
          </a:p>
          <a:p>
            <a:pPr indent="0" lvl="0" marL="0" marR="0" rtl="0" algn="ctr">
              <a:spcBef>
                <a:spcPts val="0"/>
              </a:spcBef>
              <a:spcAft>
                <a:spcPts val="0"/>
              </a:spcAft>
              <a:buNone/>
            </a:pPr>
            <a:r>
              <a:rPr b="1" lang="es-CL" sz="1700">
                <a:solidFill>
                  <a:schemeClr val="dk1"/>
                </a:solidFill>
                <a:latin typeface="Calibri"/>
                <a:ea typeface="Calibri"/>
                <a:cs typeface="Calibri"/>
                <a:sym typeface="Calibri"/>
              </a:rPr>
              <a:t>Mantenimiento</a:t>
            </a:r>
            <a:r>
              <a:rPr lang="es-CL" sz="1700">
                <a:solidFill>
                  <a:schemeClr val="dk1"/>
                </a:solidFill>
                <a:latin typeface="Calibri"/>
                <a:ea typeface="Calibri"/>
                <a:cs typeface="Calibri"/>
                <a:sym typeface="Calibri"/>
              </a:rPr>
              <a:t>: Reparación de errores vistos en el </a:t>
            </a:r>
            <a:r>
              <a:rPr lang="es-CL" sz="1700">
                <a:solidFill>
                  <a:schemeClr val="dk1"/>
                </a:solidFill>
                <a:latin typeface="Calibri"/>
                <a:ea typeface="Calibri"/>
                <a:cs typeface="Calibri"/>
                <a:sym typeface="Calibri"/>
              </a:rPr>
              <a:t>prototipo.</a:t>
            </a:r>
            <a:endParaRPr sz="1500">
              <a:solidFill>
                <a:schemeClr val="dk1"/>
              </a:solidFill>
            </a:endParaRPr>
          </a:p>
        </p:txBody>
      </p:sp>
    </p:spTree>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descr="EscuelaIT Duoc UC - Escuela de Informática y Telecomunicaciones Duoc UC - Duoc  UC | LinkedIn" id="122" name="Google Shape;122;p17"/>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23" name="Google Shape;123;p17"/>
          <p:cNvSpPr txBox="1"/>
          <p:nvPr/>
        </p:nvSpPr>
        <p:spPr>
          <a:xfrm>
            <a:off x="136188" y="368928"/>
            <a:ext cx="121920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solidFill>
                <a:schemeClr val="dk1"/>
              </a:solidFill>
            </a:endParaRPr>
          </a:p>
          <a:p>
            <a:pPr indent="0" lvl="0" marL="0" marR="0" rtl="0" algn="l">
              <a:spcBef>
                <a:spcPts val="0"/>
              </a:spcBef>
              <a:spcAft>
                <a:spcPts val="0"/>
              </a:spcAft>
              <a:buNone/>
            </a:pPr>
            <a:r>
              <a:t/>
            </a:r>
            <a:endParaRPr sz="1800">
              <a:solidFill>
                <a:srgbClr val="757070"/>
              </a:solidFill>
              <a:latin typeface="Calibri"/>
              <a:ea typeface="Calibri"/>
              <a:cs typeface="Calibri"/>
              <a:sym typeface="Calibri"/>
            </a:endParaRPr>
          </a:p>
        </p:txBody>
      </p:sp>
      <p:sp>
        <p:nvSpPr>
          <p:cNvPr id="124" name="Google Shape;124;p17"/>
          <p:cNvSpPr txBox="1"/>
          <p:nvPr/>
        </p:nvSpPr>
        <p:spPr>
          <a:xfrm>
            <a:off x="0" y="2280825"/>
            <a:ext cx="12192000" cy="4417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SzPts val="1100"/>
              <a:buNone/>
            </a:pPr>
            <a:r>
              <a:rPr b="1" lang="es-CL" sz="2200">
                <a:solidFill>
                  <a:schemeClr val="dk1"/>
                </a:solidFill>
                <a:latin typeface="Calibri"/>
                <a:ea typeface="Calibri"/>
                <a:cs typeface="Calibri"/>
                <a:sym typeface="Calibri"/>
              </a:rPr>
              <a:t>Objetivo</a:t>
            </a:r>
            <a:r>
              <a:rPr lang="es-CL" sz="2200">
                <a:solidFill>
                  <a:schemeClr val="dk1"/>
                </a:solidFill>
                <a:latin typeface="Calibri"/>
                <a:ea typeface="Calibri"/>
                <a:cs typeface="Calibri"/>
                <a:sym typeface="Calibri"/>
              </a:rPr>
              <a:t>: Desarrollar un prototipo de plataforma web intuitiva que permita a los residentes consultar de forma autónoma su estado de cuenta, deudas y pagos en tiempo real, asegurando transparencia en la cobranza.</a:t>
            </a:r>
            <a:endParaRPr sz="2200">
              <a:solidFill>
                <a:schemeClr val="dk1"/>
              </a:solidFill>
              <a:latin typeface="Calibri"/>
              <a:ea typeface="Calibri"/>
              <a:cs typeface="Calibri"/>
              <a:sym typeface="Calibri"/>
            </a:endParaRPr>
          </a:p>
          <a:p>
            <a:pPr indent="0" lvl="0" marL="0" rtl="0" algn="ctr">
              <a:spcBef>
                <a:spcPts val="0"/>
              </a:spcBef>
              <a:spcAft>
                <a:spcPts val="0"/>
              </a:spcAft>
              <a:buSzPts val="1100"/>
              <a:buNone/>
            </a:pPr>
            <a:r>
              <a:t/>
            </a:r>
            <a:endParaRPr sz="22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sz="2200">
              <a:solidFill>
                <a:schemeClr val="dk1"/>
              </a:solidFill>
              <a:latin typeface="Calibri"/>
              <a:ea typeface="Calibri"/>
              <a:cs typeface="Calibri"/>
              <a:sym typeface="Calibri"/>
            </a:endParaRPr>
          </a:p>
          <a:p>
            <a:pPr indent="0" lvl="0" marL="0" rtl="0" algn="ctr">
              <a:spcBef>
                <a:spcPts val="0"/>
              </a:spcBef>
              <a:spcAft>
                <a:spcPts val="0"/>
              </a:spcAft>
              <a:buSzPts val="1100"/>
              <a:buNone/>
            </a:pPr>
            <a:r>
              <a:rPr b="1" lang="es-CL" sz="2200">
                <a:solidFill>
                  <a:schemeClr val="dk1"/>
                </a:solidFill>
                <a:latin typeface="Calibri"/>
                <a:ea typeface="Calibri"/>
                <a:cs typeface="Calibri"/>
                <a:sym typeface="Calibri"/>
              </a:rPr>
              <a:t>Alcance</a:t>
            </a:r>
            <a:r>
              <a:rPr lang="es-CL" sz="2200">
                <a:solidFill>
                  <a:schemeClr val="dk1"/>
                </a:solidFill>
                <a:latin typeface="Calibri"/>
                <a:ea typeface="Calibri"/>
                <a:cs typeface="Calibri"/>
                <a:sym typeface="Calibri"/>
              </a:rPr>
              <a:t>: El diseño funcional e interactivo de los módulos de inicio de sesión para residentes, visualización detallada del historial de pagos, consulta de deudas vigentes y generación de estados de cuenta digitales.</a:t>
            </a:r>
            <a:endParaRPr sz="2200">
              <a:solidFill>
                <a:schemeClr val="dk1"/>
              </a:solidFill>
              <a:latin typeface="Calibri"/>
              <a:ea typeface="Calibri"/>
              <a:cs typeface="Calibri"/>
              <a:sym typeface="Calibri"/>
            </a:endParaRPr>
          </a:p>
          <a:p>
            <a:pPr indent="0" lvl="0" marL="0" rtl="0" algn="ctr">
              <a:spcBef>
                <a:spcPts val="0"/>
              </a:spcBef>
              <a:spcAft>
                <a:spcPts val="0"/>
              </a:spcAft>
              <a:buSzPts val="1100"/>
              <a:buNone/>
            </a:pPr>
            <a:r>
              <a:t/>
            </a:r>
            <a:endParaRPr sz="22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sz="22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b="1" lang="es-CL" sz="2200">
                <a:solidFill>
                  <a:schemeClr val="dk1"/>
                </a:solidFill>
                <a:latin typeface="Calibri"/>
                <a:ea typeface="Calibri"/>
                <a:cs typeface="Calibri"/>
                <a:sym typeface="Calibri"/>
              </a:rPr>
              <a:t>Limitaciones</a:t>
            </a:r>
            <a:r>
              <a:rPr lang="es-CL" sz="2200">
                <a:solidFill>
                  <a:schemeClr val="dk1"/>
                </a:solidFill>
                <a:latin typeface="Calibri"/>
                <a:ea typeface="Calibri"/>
                <a:cs typeface="Calibri"/>
                <a:sym typeface="Calibri"/>
              </a:rPr>
              <a:t>: Al tratarse de una propuesta basada en un prototipo interactivo, el proyecto actual no incluye la codificación del backend definitivo, la integración real con pasarelas de pago bancarias, ni la migración de bases de datos de la administración.</a:t>
            </a:r>
            <a:endParaRPr sz="22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700">
              <a:solidFill>
                <a:schemeClr val="dk1"/>
              </a:solidFill>
              <a:latin typeface="Calibri"/>
              <a:ea typeface="Calibri"/>
              <a:cs typeface="Calibri"/>
              <a:sym typeface="Calibri"/>
            </a:endParaRPr>
          </a:p>
        </p:txBody>
      </p:sp>
      <p:cxnSp>
        <p:nvCxnSpPr>
          <p:cNvPr id="125" name="Google Shape;125;p17"/>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
        <p:nvSpPr>
          <p:cNvPr id="126" name="Google Shape;126;p17"/>
          <p:cNvSpPr txBox="1"/>
          <p:nvPr/>
        </p:nvSpPr>
        <p:spPr>
          <a:xfrm>
            <a:off x="478800" y="1126725"/>
            <a:ext cx="11234400" cy="78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3400">
                <a:solidFill>
                  <a:schemeClr val="dk1"/>
                </a:solidFill>
                <a:latin typeface="Calibri"/>
                <a:ea typeface="Calibri"/>
                <a:cs typeface="Calibri"/>
                <a:sym typeface="Calibri"/>
              </a:rPr>
              <a:t>OBJETIVO, ALCANCE Y LIMITACIONES DEL PROTECTO</a:t>
            </a:r>
            <a:endParaRPr sz="34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descr="EscuelaIT Duoc UC - Escuela de Informática y Telecomunicaciones Duoc UC - Duoc  UC | LinkedIn" id="131" name="Google Shape;131;p18"/>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32" name="Google Shape;132;p18"/>
          <p:cNvSpPr txBox="1"/>
          <p:nvPr/>
        </p:nvSpPr>
        <p:spPr>
          <a:xfrm>
            <a:off x="136188" y="368928"/>
            <a:ext cx="121920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solidFill>
                <a:schemeClr val="dk1"/>
              </a:solidFill>
            </a:endParaRPr>
          </a:p>
          <a:p>
            <a:pPr indent="0" lvl="0" marL="0" marR="0" rtl="0" algn="l">
              <a:spcBef>
                <a:spcPts val="0"/>
              </a:spcBef>
              <a:spcAft>
                <a:spcPts val="0"/>
              </a:spcAft>
              <a:buNone/>
            </a:pPr>
            <a:r>
              <a:t/>
            </a:r>
            <a:endParaRPr sz="1800">
              <a:solidFill>
                <a:srgbClr val="757070"/>
              </a:solidFill>
              <a:latin typeface="Calibri"/>
              <a:ea typeface="Calibri"/>
              <a:cs typeface="Calibri"/>
              <a:sym typeface="Calibri"/>
            </a:endParaRPr>
          </a:p>
        </p:txBody>
      </p:sp>
      <p:sp>
        <p:nvSpPr>
          <p:cNvPr id="133" name="Google Shape;133;p18"/>
          <p:cNvSpPr txBox="1"/>
          <p:nvPr/>
        </p:nvSpPr>
        <p:spPr>
          <a:xfrm>
            <a:off x="0" y="1432655"/>
            <a:ext cx="1219199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ESTRATEGIAS DE GESTIÓN DEL PROYECTO</a:t>
            </a:r>
            <a:endParaRPr sz="1800">
              <a:solidFill>
                <a:schemeClr val="dk1"/>
              </a:solidFill>
              <a:latin typeface="Calibri"/>
              <a:ea typeface="Calibri"/>
              <a:cs typeface="Calibri"/>
              <a:sym typeface="Calibri"/>
            </a:endParaRPr>
          </a:p>
        </p:txBody>
      </p:sp>
      <p:cxnSp>
        <p:nvCxnSpPr>
          <p:cNvPr id="134" name="Google Shape;134;p18"/>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
        <p:nvSpPr>
          <p:cNvPr id="135" name="Google Shape;135;p18"/>
          <p:cNvSpPr txBox="1"/>
          <p:nvPr/>
        </p:nvSpPr>
        <p:spPr>
          <a:xfrm>
            <a:off x="614700" y="2703825"/>
            <a:ext cx="10620900" cy="396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3100">
                <a:solidFill>
                  <a:schemeClr val="dk1"/>
                </a:solidFill>
                <a:latin typeface="Calibri"/>
                <a:ea typeface="Calibri"/>
                <a:cs typeface="Calibri"/>
                <a:sym typeface="Calibri"/>
              </a:rPr>
              <a:t>La gestión se organizó directamente en clases entre los tres integrantes del equipo. Nos distribuimos las tareas conversando en clases, los tres </a:t>
            </a:r>
            <a:r>
              <a:rPr lang="es-CL" sz="3100">
                <a:solidFill>
                  <a:schemeClr val="dk1"/>
                </a:solidFill>
                <a:latin typeface="Calibri"/>
                <a:ea typeface="Calibri"/>
                <a:cs typeface="Calibri"/>
                <a:sym typeface="Calibri"/>
              </a:rPr>
              <a:t>trabajamos</a:t>
            </a:r>
            <a:r>
              <a:rPr lang="es-CL" sz="3100">
                <a:solidFill>
                  <a:schemeClr val="dk1"/>
                </a:solidFill>
                <a:latin typeface="Calibri"/>
                <a:ea typeface="Calibri"/>
                <a:cs typeface="Calibri"/>
                <a:sym typeface="Calibri"/>
              </a:rPr>
              <a:t> en paralelo redactando el DAS. Al final, juntamos todo mediante revisiones directas antes de entregar el trabajo (hasta la segunda entrega).</a:t>
            </a:r>
            <a:endParaRPr sz="3100">
              <a:solidFill>
                <a:schemeClr val="dk1"/>
              </a:solidFill>
              <a:latin typeface="Calibri"/>
              <a:ea typeface="Calibri"/>
              <a:cs typeface="Calibri"/>
              <a:sym typeface="Calibri"/>
            </a:endParaRPr>
          </a:p>
          <a:p>
            <a:pPr indent="0" lvl="0" marL="0" rtl="0" algn="ctr">
              <a:spcBef>
                <a:spcPts val="0"/>
              </a:spcBef>
              <a:spcAft>
                <a:spcPts val="0"/>
              </a:spcAft>
              <a:buNone/>
            </a:pPr>
            <a:r>
              <a:t/>
            </a:r>
            <a:endParaRPr sz="3100">
              <a:solidFill>
                <a:schemeClr val="dk1"/>
              </a:solidFill>
              <a:latin typeface="Calibri"/>
              <a:ea typeface="Calibri"/>
              <a:cs typeface="Calibri"/>
              <a:sym typeface="Calibri"/>
            </a:endParaRPr>
          </a:p>
          <a:p>
            <a:pPr indent="0" lvl="0" marL="0" rtl="0" algn="ctr">
              <a:spcBef>
                <a:spcPts val="0"/>
              </a:spcBef>
              <a:spcAft>
                <a:spcPts val="0"/>
              </a:spcAft>
              <a:buNone/>
            </a:pPr>
            <a:r>
              <a:rPr lang="es-CL" sz="3100">
                <a:solidFill>
                  <a:schemeClr val="dk1"/>
                </a:solidFill>
                <a:latin typeface="Calibri"/>
                <a:ea typeface="Calibri"/>
                <a:cs typeface="Calibri"/>
                <a:sym typeface="Calibri"/>
              </a:rPr>
              <a:t>A partir de la tercera entrega trabajé por mi cuenta en lo que quedaba de el DAS y prototipado del software. </a:t>
            </a:r>
            <a:endParaRPr sz="3100">
              <a:solidFill>
                <a:schemeClr val="dk1"/>
              </a:solidFill>
              <a:latin typeface="Calibri"/>
              <a:ea typeface="Calibri"/>
              <a:cs typeface="Calibri"/>
              <a:sym typeface="Calibri"/>
            </a:endParaRPr>
          </a:p>
          <a:p>
            <a:pPr indent="0" lvl="0" marL="0" rtl="0" algn="ctr">
              <a:spcBef>
                <a:spcPts val="0"/>
              </a:spcBef>
              <a:spcAft>
                <a:spcPts val="0"/>
              </a:spcAft>
              <a:buNone/>
            </a:pPr>
            <a:r>
              <a:t/>
            </a:r>
            <a:endParaRPr sz="31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descr="EscuelaIT Duoc UC - Escuela de Informática y Telecomunicaciones Duoc UC - Duoc  UC | LinkedIn" id="140" name="Google Shape;140;p19"/>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41" name="Google Shape;141;p19"/>
          <p:cNvSpPr txBox="1"/>
          <p:nvPr/>
        </p:nvSpPr>
        <p:spPr>
          <a:xfrm>
            <a:off x="136188" y="368928"/>
            <a:ext cx="121920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solidFill>
                <a:schemeClr val="dk1"/>
              </a:solidFill>
            </a:endParaRPr>
          </a:p>
          <a:p>
            <a:pPr indent="0" lvl="0" marL="0" marR="0" rtl="0" algn="l">
              <a:spcBef>
                <a:spcPts val="0"/>
              </a:spcBef>
              <a:spcAft>
                <a:spcPts val="0"/>
              </a:spcAft>
              <a:buNone/>
            </a:pPr>
            <a:r>
              <a:t/>
            </a:r>
            <a:endParaRPr sz="1800">
              <a:solidFill>
                <a:srgbClr val="757070"/>
              </a:solidFill>
              <a:latin typeface="Calibri"/>
              <a:ea typeface="Calibri"/>
              <a:cs typeface="Calibri"/>
              <a:sym typeface="Calibri"/>
            </a:endParaRPr>
          </a:p>
        </p:txBody>
      </p:sp>
      <p:sp>
        <p:nvSpPr>
          <p:cNvPr id="142" name="Google Shape;142;p19"/>
          <p:cNvSpPr txBox="1"/>
          <p:nvPr/>
        </p:nvSpPr>
        <p:spPr>
          <a:xfrm>
            <a:off x="1" y="852456"/>
            <a:ext cx="12192000" cy="800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PLANIFICACIÓN DEL PROYECTO (EDT + CARTA GANTT)</a:t>
            </a:r>
            <a:endParaRPr/>
          </a:p>
          <a:p>
            <a:pPr indent="0" lvl="0" marL="0" marR="0" rtl="0" algn="ctr">
              <a:spcBef>
                <a:spcPts val="0"/>
              </a:spcBef>
              <a:spcAft>
                <a:spcPts val="0"/>
              </a:spcAft>
              <a:buNone/>
            </a:pPr>
            <a:r>
              <a:t/>
            </a:r>
            <a:endParaRPr sz="1000">
              <a:solidFill>
                <a:srgbClr val="757070"/>
              </a:solidFill>
              <a:latin typeface="Calibri"/>
              <a:ea typeface="Calibri"/>
              <a:cs typeface="Calibri"/>
              <a:sym typeface="Calibri"/>
            </a:endParaRPr>
          </a:p>
        </p:txBody>
      </p:sp>
      <p:cxnSp>
        <p:nvCxnSpPr>
          <p:cNvPr id="143" name="Google Shape;143;p19"/>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pic>
        <p:nvPicPr>
          <p:cNvPr id="144" name="Google Shape;144;p19" title="Screenshot_10.png"/>
          <p:cNvPicPr preferRelativeResize="0"/>
          <p:nvPr/>
        </p:nvPicPr>
        <p:blipFill rotWithShape="1">
          <a:blip r:embed="rId4">
            <a:alphaModFix/>
          </a:blip>
          <a:srcRect b="0" l="159" r="159" t="0"/>
          <a:stretch/>
        </p:blipFill>
        <p:spPr>
          <a:xfrm>
            <a:off x="2381675" y="1512400"/>
            <a:ext cx="7428649" cy="5283975"/>
          </a:xfrm>
          <a:prstGeom prst="rect">
            <a:avLst/>
          </a:prstGeom>
          <a:noFill/>
          <a:ln>
            <a:noFill/>
          </a:ln>
        </p:spPr>
      </p:pic>
    </p:spTree>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EscuelaIT Duoc UC - Escuela de Informática y Telecomunicaciones Duoc UC - Duoc  UC | LinkedIn" id="149" name="Google Shape;149;p20"/>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50" name="Google Shape;150;p20"/>
          <p:cNvSpPr txBox="1"/>
          <p:nvPr/>
        </p:nvSpPr>
        <p:spPr>
          <a:xfrm>
            <a:off x="136188" y="368928"/>
            <a:ext cx="121920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solidFill>
                <a:schemeClr val="dk1"/>
              </a:solidFill>
            </a:endParaRPr>
          </a:p>
          <a:p>
            <a:pPr indent="0" lvl="0" marL="0" marR="0" rtl="0" algn="l">
              <a:spcBef>
                <a:spcPts val="0"/>
              </a:spcBef>
              <a:spcAft>
                <a:spcPts val="0"/>
              </a:spcAft>
              <a:buNone/>
            </a:pPr>
            <a:r>
              <a:t/>
            </a:r>
            <a:endParaRPr sz="1800">
              <a:solidFill>
                <a:srgbClr val="757070"/>
              </a:solidFill>
              <a:latin typeface="Calibri"/>
              <a:ea typeface="Calibri"/>
              <a:cs typeface="Calibri"/>
              <a:sym typeface="Calibri"/>
            </a:endParaRPr>
          </a:p>
        </p:txBody>
      </p:sp>
      <p:sp>
        <p:nvSpPr>
          <p:cNvPr id="151" name="Google Shape;151;p20"/>
          <p:cNvSpPr txBox="1"/>
          <p:nvPr/>
        </p:nvSpPr>
        <p:spPr>
          <a:xfrm>
            <a:off x="0" y="1432655"/>
            <a:ext cx="12191999"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ARQUITECTURA DE SOFTWARE - MODELO 4+1 (UML)</a:t>
            </a:r>
            <a:endParaRPr/>
          </a:p>
          <a:p>
            <a:pPr indent="0" lvl="0" marL="0" marR="0" rtl="0" algn="ctr">
              <a:spcBef>
                <a:spcPts val="0"/>
              </a:spcBef>
              <a:spcAft>
                <a:spcPts val="0"/>
              </a:spcAft>
              <a:buNone/>
            </a:pPr>
            <a:r>
              <a:rPr lang="es-CL" sz="2400">
                <a:solidFill>
                  <a:srgbClr val="757070"/>
                </a:solidFill>
                <a:latin typeface="Calibri"/>
                <a:ea typeface="Calibri"/>
                <a:cs typeface="Calibri"/>
                <a:sym typeface="Calibri"/>
              </a:rPr>
              <a:t>• Vista Escenario: Casos de Uso </a:t>
            </a:r>
            <a:endParaRPr/>
          </a:p>
        </p:txBody>
      </p:sp>
      <p:cxnSp>
        <p:nvCxnSpPr>
          <p:cNvPr id="152" name="Google Shape;152;p20"/>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pic>
        <p:nvPicPr>
          <p:cNvPr id="153" name="Google Shape;153;p20" title="Screenshot_11.png"/>
          <p:cNvPicPr preferRelativeResize="0"/>
          <p:nvPr/>
        </p:nvPicPr>
        <p:blipFill>
          <a:blip r:embed="rId4">
            <a:alphaModFix/>
          </a:blip>
          <a:stretch>
            <a:fillRect/>
          </a:stretch>
        </p:blipFill>
        <p:spPr>
          <a:xfrm>
            <a:off x="2693338" y="2580018"/>
            <a:ext cx="7077701" cy="4104883"/>
          </a:xfrm>
          <a:prstGeom prst="rect">
            <a:avLst/>
          </a:prstGeom>
          <a:noFill/>
          <a:ln>
            <a:noFill/>
          </a:ln>
        </p:spPr>
      </p:pic>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descr="EscuelaIT Duoc UC - Escuela de Informática y Telecomunicaciones Duoc UC - Duoc  UC | LinkedIn" id="158" name="Google Shape;158;p21"/>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59" name="Google Shape;159;p21"/>
          <p:cNvSpPr txBox="1"/>
          <p:nvPr/>
        </p:nvSpPr>
        <p:spPr>
          <a:xfrm>
            <a:off x="136188" y="368928"/>
            <a:ext cx="121920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solidFill>
                <a:schemeClr val="dk1"/>
              </a:solidFill>
            </a:endParaRPr>
          </a:p>
          <a:p>
            <a:pPr indent="0" lvl="0" marL="0" marR="0" rtl="0" algn="l">
              <a:spcBef>
                <a:spcPts val="0"/>
              </a:spcBef>
              <a:spcAft>
                <a:spcPts val="0"/>
              </a:spcAft>
              <a:buNone/>
            </a:pPr>
            <a:r>
              <a:t/>
            </a:r>
            <a:endParaRPr sz="1800">
              <a:solidFill>
                <a:srgbClr val="757070"/>
              </a:solidFill>
              <a:latin typeface="Calibri"/>
              <a:ea typeface="Calibri"/>
              <a:cs typeface="Calibri"/>
              <a:sym typeface="Calibri"/>
            </a:endParaRPr>
          </a:p>
        </p:txBody>
      </p:sp>
      <p:sp>
        <p:nvSpPr>
          <p:cNvPr id="160" name="Google Shape;160;p21"/>
          <p:cNvSpPr txBox="1"/>
          <p:nvPr/>
        </p:nvSpPr>
        <p:spPr>
          <a:xfrm>
            <a:off x="0" y="992905"/>
            <a:ext cx="121920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ARQUITECTURA DE SOFTWARE - MODELO 4+1 (UML)</a:t>
            </a:r>
            <a:endParaRPr/>
          </a:p>
          <a:p>
            <a:pPr indent="0" lvl="0" marL="0" marR="0" rtl="0" algn="ctr">
              <a:spcBef>
                <a:spcPts val="0"/>
              </a:spcBef>
              <a:spcAft>
                <a:spcPts val="0"/>
              </a:spcAft>
              <a:buNone/>
            </a:pPr>
            <a:r>
              <a:rPr lang="es-CL" sz="2400">
                <a:solidFill>
                  <a:srgbClr val="757070"/>
                </a:solidFill>
                <a:latin typeface="Calibri"/>
                <a:ea typeface="Calibri"/>
                <a:cs typeface="Calibri"/>
                <a:sym typeface="Calibri"/>
              </a:rPr>
              <a:t>• Vista Lógica: Clases  </a:t>
            </a:r>
            <a:endParaRPr/>
          </a:p>
        </p:txBody>
      </p:sp>
      <p:cxnSp>
        <p:nvCxnSpPr>
          <p:cNvPr id="161" name="Google Shape;161;p21"/>
          <p:cNvCxnSpPr/>
          <p:nvPr/>
        </p:nvCxnSpPr>
        <p:spPr>
          <a:xfrm>
            <a:off x="0" y="758027"/>
            <a:ext cx="4085700" cy="0"/>
          </a:xfrm>
          <a:prstGeom prst="straightConnector1">
            <a:avLst/>
          </a:prstGeom>
          <a:noFill/>
          <a:ln cap="flat" cmpd="sng" w="15875">
            <a:solidFill>
              <a:srgbClr val="F5F7FC"/>
            </a:solidFill>
            <a:prstDash val="solid"/>
            <a:miter lim="8000"/>
            <a:headEnd len="sm" w="sm" type="none"/>
            <a:tailEnd len="sm" w="sm" type="none"/>
          </a:ln>
        </p:spPr>
      </p:cxnSp>
      <p:pic>
        <p:nvPicPr>
          <p:cNvPr id="162" name="Google Shape;162;p21" title="Screenshot_12.png"/>
          <p:cNvPicPr preferRelativeResize="0"/>
          <p:nvPr/>
        </p:nvPicPr>
        <p:blipFill>
          <a:blip r:embed="rId4">
            <a:alphaModFix/>
          </a:blip>
          <a:stretch>
            <a:fillRect/>
          </a:stretch>
        </p:blipFill>
        <p:spPr>
          <a:xfrm>
            <a:off x="2575625" y="2008699"/>
            <a:ext cx="7040745" cy="4849301"/>
          </a:xfrm>
          <a:prstGeom prst="rect">
            <a:avLst/>
          </a:prstGeom>
          <a:noFill/>
          <a:ln>
            <a:noFill/>
          </a:ln>
        </p:spPr>
      </p:pic>
    </p:spTree>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descr="EscuelaIT Duoc UC - Escuela de Informática y Telecomunicaciones Duoc UC - Duoc  UC | LinkedIn" id="167" name="Google Shape;167;p22"/>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68" name="Google Shape;168;p22"/>
          <p:cNvSpPr txBox="1"/>
          <p:nvPr/>
        </p:nvSpPr>
        <p:spPr>
          <a:xfrm>
            <a:off x="136188" y="368928"/>
            <a:ext cx="121920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solidFill>
                <a:schemeClr val="dk1"/>
              </a:solidFill>
            </a:endParaRPr>
          </a:p>
          <a:p>
            <a:pPr indent="0" lvl="0" marL="0" marR="0" rtl="0" algn="l">
              <a:spcBef>
                <a:spcPts val="0"/>
              </a:spcBef>
              <a:spcAft>
                <a:spcPts val="0"/>
              </a:spcAft>
              <a:buNone/>
            </a:pPr>
            <a:r>
              <a:t/>
            </a:r>
            <a:endParaRPr sz="1800">
              <a:solidFill>
                <a:srgbClr val="757070"/>
              </a:solidFill>
              <a:latin typeface="Calibri"/>
              <a:ea typeface="Calibri"/>
              <a:cs typeface="Calibri"/>
              <a:sym typeface="Calibri"/>
            </a:endParaRPr>
          </a:p>
        </p:txBody>
      </p:sp>
      <p:sp>
        <p:nvSpPr>
          <p:cNvPr id="169" name="Google Shape;169;p22"/>
          <p:cNvSpPr txBox="1"/>
          <p:nvPr/>
        </p:nvSpPr>
        <p:spPr>
          <a:xfrm>
            <a:off x="0" y="992905"/>
            <a:ext cx="121920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ARQUITECTURA DE SOFTWARE - MODELO 4+1 (UML)</a:t>
            </a:r>
            <a:endParaRPr/>
          </a:p>
          <a:p>
            <a:pPr indent="0" lvl="0" marL="0" marR="0" rtl="0" algn="ctr">
              <a:spcBef>
                <a:spcPts val="0"/>
              </a:spcBef>
              <a:spcAft>
                <a:spcPts val="0"/>
              </a:spcAft>
              <a:buNone/>
            </a:pPr>
            <a:r>
              <a:rPr lang="es-CL" sz="2400">
                <a:solidFill>
                  <a:srgbClr val="757070"/>
                </a:solidFill>
                <a:latin typeface="Calibri"/>
                <a:ea typeface="Calibri"/>
                <a:cs typeface="Calibri"/>
                <a:sym typeface="Calibri"/>
              </a:rPr>
              <a:t>• Vista Desarrollo: Componentes  </a:t>
            </a:r>
            <a:endParaRPr/>
          </a:p>
        </p:txBody>
      </p:sp>
      <p:cxnSp>
        <p:nvCxnSpPr>
          <p:cNvPr id="170" name="Google Shape;170;p22"/>
          <p:cNvCxnSpPr/>
          <p:nvPr/>
        </p:nvCxnSpPr>
        <p:spPr>
          <a:xfrm>
            <a:off x="0" y="758027"/>
            <a:ext cx="4085700" cy="0"/>
          </a:xfrm>
          <a:prstGeom prst="straightConnector1">
            <a:avLst/>
          </a:prstGeom>
          <a:noFill/>
          <a:ln cap="flat" cmpd="sng" w="15875">
            <a:solidFill>
              <a:srgbClr val="F5F7FC"/>
            </a:solidFill>
            <a:prstDash val="solid"/>
            <a:miter lim="8000"/>
            <a:headEnd len="sm" w="sm" type="none"/>
            <a:tailEnd len="sm" w="sm" type="none"/>
          </a:ln>
        </p:spPr>
      </p:cxnSp>
      <p:pic>
        <p:nvPicPr>
          <p:cNvPr id="171" name="Google Shape;171;p22" title="Screenshot_13.png"/>
          <p:cNvPicPr preferRelativeResize="0"/>
          <p:nvPr/>
        </p:nvPicPr>
        <p:blipFill>
          <a:blip r:embed="rId4">
            <a:alphaModFix/>
          </a:blip>
          <a:stretch>
            <a:fillRect/>
          </a:stretch>
        </p:blipFill>
        <p:spPr>
          <a:xfrm>
            <a:off x="1423975" y="2008700"/>
            <a:ext cx="9616450" cy="4770075"/>
          </a:xfrm>
          <a:prstGeom prst="rect">
            <a:avLst/>
          </a:prstGeom>
          <a:noFill/>
          <a:ln>
            <a:noFill/>
          </a:ln>
        </p:spPr>
      </p:pic>
    </p:spTree>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descr="EscuelaIT Duoc UC - Escuela de Informática y Telecomunicaciones Duoc UC - Duoc  UC | LinkedIn" id="176" name="Google Shape;176;p23"/>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77" name="Google Shape;177;p23"/>
          <p:cNvSpPr txBox="1"/>
          <p:nvPr/>
        </p:nvSpPr>
        <p:spPr>
          <a:xfrm>
            <a:off x="136188" y="368928"/>
            <a:ext cx="121920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solidFill>
                <a:schemeClr val="dk1"/>
              </a:solidFill>
            </a:endParaRPr>
          </a:p>
          <a:p>
            <a:pPr indent="0" lvl="0" marL="0" marR="0" rtl="0" algn="l">
              <a:spcBef>
                <a:spcPts val="0"/>
              </a:spcBef>
              <a:spcAft>
                <a:spcPts val="0"/>
              </a:spcAft>
              <a:buNone/>
            </a:pPr>
            <a:r>
              <a:t/>
            </a:r>
            <a:endParaRPr sz="1800">
              <a:solidFill>
                <a:srgbClr val="757070"/>
              </a:solidFill>
              <a:latin typeface="Calibri"/>
              <a:ea typeface="Calibri"/>
              <a:cs typeface="Calibri"/>
              <a:sym typeface="Calibri"/>
            </a:endParaRPr>
          </a:p>
        </p:txBody>
      </p:sp>
      <p:sp>
        <p:nvSpPr>
          <p:cNvPr id="178" name="Google Shape;178;p23"/>
          <p:cNvSpPr txBox="1"/>
          <p:nvPr/>
        </p:nvSpPr>
        <p:spPr>
          <a:xfrm>
            <a:off x="0" y="1057905"/>
            <a:ext cx="121920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ARQUITECTURA DE SOFTWARE - MODELO 4+1 (UML)</a:t>
            </a:r>
            <a:endParaRPr/>
          </a:p>
          <a:p>
            <a:pPr indent="0" lvl="0" marL="0" marR="0" rtl="0" algn="ctr">
              <a:spcBef>
                <a:spcPts val="0"/>
              </a:spcBef>
              <a:spcAft>
                <a:spcPts val="0"/>
              </a:spcAft>
              <a:buNone/>
            </a:pPr>
            <a:r>
              <a:rPr lang="es-CL" sz="2400">
                <a:solidFill>
                  <a:srgbClr val="757070"/>
                </a:solidFill>
                <a:latin typeface="Calibri"/>
                <a:ea typeface="Calibri"/>
                <a:cs typeface="Calibri"/>
                <a:sym typeface="Calibri"/>
              </a:rPr>
              <a:t>• Vista Proceso: Actividad </a:t>
            </a:r>
            <a:endParaRPr/>
          </a:p>
        </p:txBody>
      </p:sp>
      <p:cxnSp>
        <p:nvCxnSpPr>
          <p:cNvPr id="179" name="Google Shape;179;p23"/>
          <p:cNvCxnSpPr/>
          <p:nvPr/>
        </p:nvCxnSpPr>
        <p:spPr>
          <a:xfrm>
            <a:off x="0" y="758027"/>
            <a:ext cx="4085700" cy="0"/>
          </a:xfrm>
          <a:prstGeom prst="straightConnector1">
            <a:avLst/>
          </a:prstGeom>
          <a:noFill/>
          <a:ln cap="flat" cmpd="sng" w="15875">
            <a:solidFill>
              <a:srgbClr val="F5F7FC"/>
            </a:solidFill>
            <a:prstDash val="solid"/>
            <a:miter lim="8000"/>
            <a:headEnd len="sm" w="sm" type="none"/>
            <a:tailEnd len="sm" w="sm" type="none"/>
          </a:ln>
        </p:spPr>
      </p:cxnSp>
      <p:pic>
        <p:nvPicPr>
          <p:cNvPr id="180" name="Google Shape;180;p23" title="Screenshot_15.png"/>
          <p:cNvPicPr preferRelativeResize="0"/>
          <p:nvPr/>
        </p:nvPicPr>
        <p:blipFill>
          <a:blip r:embed="rId4">
            <a:alphaModFix/>
          </a:blip>
          <a:stretch>
            <a:fillRect/>
          </a:stretch>
        </p:blipFill>
        <p:spPr>
          <a:xfrm>
            <a:off x="4390013" y="2073700"/>
            <a:ext cx="3684376" cy="4784300"/>
          </a:xfrm>
          <a:prstGeom prst="rect">
            <a:avLst/>
          </a:prstGeom>
          <a:noFill/>
          <a:ln>
            <a:noFill/>
          </a:ln>
        </p:spPr>
      </p:pic>
    </p:spTree>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descr="EscuelaIT Duoc UC - Escuela de Informática y Telecomunicaciones Duoc UC - Duoc  UC | LinkedIn" id="185" name="Google Shape;185;p24"/>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86" name="Google Shape;186;p24"/>
          <p:cNvSpPr txBox="1"/>
          <p:nvPr/>
        </p:nvSpPr>
        <p:spPr>
          <a:xfrm>
            <a:off x="136188" y="368928"/>
            <a:ext cx="121920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solidFill>
                <a:schemeClr val="dk1"/>
              </a:solidFill>
            </a:endParaRPr>
          </a:p>
          <a:p>
            <a:pPr indent="0" lvl="0" marL="0" marR="0" rtl="0" algn="l">
              <a:spcBef>
                <a:spcPts val="0"/>
              </a:spcBef>
              <a:spcAft>
                <a:spcPts val="0"/>
              </a:spcAft>
              <a:buNone/>
            </a:pPr>
            <a:r>
              <a:t/>
            </a:r>
            <a:endParaRPr sz="1800">
              <a:solidFill>
                <a:srgbClr val="757070"/>
              </a:solidFill>
              <a:latin typeface="Calibri"/>
              <a:ea typeface="Calibri"/>
              <a:cs typeface="Calibri"/>
              <a:sym typeface="Calibri"/>
            </a:endParaRPr>
          </a:p>
        </p:txBody>
      </p:sp>
      <p:sp>
        <p:nvSpPr>
          <p:cNvPr id="187" name="Google Shape;187;p24"/>
          <p:cNvSpPr txBox="1"/>
          <p:nvPr/>
        </p:nvSpPr>
        <p:spPr>
          <a:xfrm>
            <a:off x="0" y="992905"/>
            <a:ext cx="121920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ARQUITECTURA DE SOFTWARE - MODELO 4+1 (UML)</a:t>
            </a:r>
            <a:endParaRPr/>
          </a:p>
          <a:p>
            <a:pPr indent="0" lvl="0" marL="0" marR="0" rtl="0" algn="ctr">
              <a:spcBef>
                <a:spcPts val="0"/>
              </a:spcBef>
              <a:spcAft>
                <a:spcPts val="0"/>
              </a:spcAft>
              <a:buNone/>
            </a:pPr>
            <a:r>
              <a:rPr lang="es-CL" sz="2400">
                <a:solidFill>
                  <a:srgbClr val="757070"/>
                </a:solidFill>
                <a:latin typeface="Calibri"/>
                <a:ea typeface="Calibri"/>
                <a:cs typeface="Calibri"/>
                <a:sym typeface="Calibri"/>
              </a:rPr>
              <a:t>• Vista Física: Despliegue</a:t>
            </a:r>
            <a:endParaRPr/>
          </a:p>
        </p:txBody>
      </p:sp>
      <p:cxnSp>
        <p:nvCxnSpPr>
          <p:cNvPr id="188" name="Google Shape;188;p24"/>
          <p:cNvCxnSpPr/>
          <p:nvPr/>
        </p:nvCxnSpPr>
        <p:spPr>
          <a:xfrm>
            <a:off x="0" y="758027"/>
            <a:ext cx="4085700" cy="0"/>
          </a:xfrm>
          <a:prstGeom prst="straightConnector1">
            <a:avLst/>
          </a:prstGeom>
          <a:noFill/>
          <a:ln cap="flat" cmpd="sng" w="15875">
            <a:solidFill>
              <a:srgbClr val="F5F7FC"/>
            </a:solidFill>
            <a:prstDash val="solid"/>
            <a:miter lim="8000"/>
            <a:headEnd len="sm" w="sm" type="none"/>
            <a:tailEnd len="sm" w="sm" type="none"/>
          </a:ln>
        </p:spPr>
      </p:cxnSp>
      <p:pic>
        <p:nvPicPr>
          <p:cNvPr id="189" name="Google Shape;189;p24" title="Screenshot_16.png"/>
          <p:cNvPicPr preferRelativeResize="0"/>
          <p:nvPr/>
        </p:nvPicPr>
        <p:blipFill>
          <a:blip r:embed="rId4">
            <a:alphaModFix/>
          </a:blip>
          <a:stretch>
            <a:fillRect/>
          </a:stretch>
        </p:blipFill>
        <p:spPr>
          <a:xfrm>
            <a:off x="718575" y="2008700"/>
            <a:ext cx="11027250" cy="4769732"/>
          </a:xfrm>
          <a:prstGeom prst="rect">
            <a:avLst/>
          </a:prstGeom>
          <a:noFill/>
          <a:ln>
            <a:noFill/>
          </a:ln>
        </p:spPr>
      </p:pic>
    </p:spTree>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descr="EscuelaIT Duoc UC - Escuela de Informática y Telecomunicaciones Duoc UC - Duoc  UC | LinkedIn" id="194" name="Google Shape;194;p25"/>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95" name="Google Shape;195;p25"/>
          <p:cNvSpPr txBox="1"/>
          <p:nvPr/>
        </p:nvSpPr>
        <p:spPr>
          <a:xfrm>
            <a:off x="136188" y="368928"/>
            <a:ext cx="121920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solidFill>
                <a:schemeClr val="dk1"/>
              </a:solidFill>
            </a:endParaRPr>
          </a:p>
          <a:p>
            <a:pPr indent="0" lvl="0" marL="0" marR="0" rtl="0" algn="l">
              <a:spcBef>
                <a:spcPts val="0"/>
              </a:spcBef>
              <a:spcAft>
                <a:spcPts val="0"/>
              </a:spcAft>
              <a:buNone/>
            </a:pPr>
            <a:r>
              <a:t/>
            </a:r>
            <a:endParaRPr sz="1800">
              <a:solidFill>
                <a:srgbClr val="757070"/>
              </a:solidFill>
              <a:latin typeface="Calibri"/>
              <a:ea typeface="Calibri"/>
              <a:cs typeface="Calibri"/>
              <a:sym typeface="Calibri"/>
            </a:endParaRPr>
          </a:p>
        </p:txBody>
      </p:sp>
      <p:sp>
        <p:nvSpPr>
          <p:cNvPr id="196" name="Google Shape;196;p25"/>
          <p:cNvSpPr txBox="1"/>
          <p:nvPr/>
        </p:nvSpPr>
        <p:spPr>
          <a:xfrm>
            <a:off x="0" y="1057905"/>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REQUISITOS FUNCIONALES Y NO FUNCIONALES</a:t>
            </a:r>
            <a:endParaRPr/>
          </a:p>
        </p:txBody>
      </p:sp>
      <p:sp>
        <p:nvSpPr>
          <p:cNvPr id="197" name="Google Shape;197;p25"/>
          <p:cNvSpPr txBox="1"/>
          <p:nvPr/>
        </p:nvSpPr>
        <p:spPr>
          <a:xfrm>
            <a:off x="237600" y="1578900"/>
            <a:ext cx="11716800" cy="487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CL" sz="2300">
                <a:solidFill>
                  <a:schemeClr val="dk1"/>
                </a:solidFill>
                <a:latin typeface="Calibri"/>
                <a:ea typeface="Calibri"/>
                <a:cs typeface="Calibri"/>
                <a:sym typeface="Calibri"/>
              </a:rPr>
              <a:t>Requisito funcional:</a:t>
            </a:r>
            <a:endParaRPr b="1" sz="2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s-CL" sz="2300">
                <a:solidFill>
                  <a:schemeClr val="dk1"/>
                </a:solidFill>
                <a:latin typeface="Calibri"/>
                <a:ea typeface="Calibri"/>
                <a:cs typeface="Calibri"/>
                <a:sym typeface="Calibri"/>
              </a:rPr>
              <a:t>Consulta de información por parte de residentes:</a:t>
            </a:r>
            <a:r>
              <a:rPr lang="es-CL" sz="2300">
                <a:solidFill>
                  <a:schemeClr val="dk1"/>
                </a:solidFill>
                <a:latin typeface="Calibri"/>
                <a:ea typeface="Calibri"/>
                <a:cs typeface="Calibri"/>
                <a:sym typeface="Calibri"/>
              </a:rPr>
              <a:t> El sistema debe permitir la visualización de estado de cuenta, pagos y deudas.</a:t>
            </a:r>
            <a:endParaRPr sz="2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2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s-CL" sz="2300">
                <a:solidFill>
                  <a:schemeClr val="dk1"/>
                </a:solidFill>
                <a:latin typeface="Calibri"/>
                <a:ea typeface="Calibri"/>
                <a:cs typeface="Calibri"/>
                <a:sym typeface="Calibri"/>
              </a:rPr>
              <a:t>Requisitos no funcionales:</a:t>
            </a:r>
            <a:endParaRPr b="1" sz="2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s-CL" sz="2300">
                <a:solidFill>
                  <a:schemeClr val="dk1"/>
                </a:solidFill>
                <a:latin typeface="Calibri"/>
                <a:ea typeface="Calibri"/>
                <a:cs typeface="Calibri"/>
                <a:sym typeface="Calibri"/>
              </a:rPr>
              <a:t>Usabilidad: </a:t>
            </a:r>
            <a:r>
              <a:rPr lang="es-CL" sz="2300">
                <a:solidFill>
                  <a:schemeClr val="dk1"/>
                </a:solidFill>
                <a:latin typeface="Calibri"/>
                <a:ea typeface="Calibri"/>
                <a:cs typeface="Calibri"/>
                <a:sym typeface="Calibri"/>
              </a:rPr>
              <a:t>El sistema debe ser intuitivo, fácil de usar y comprensible para usuarios administrativos y residentes con distintos niveles de alfabetización digital.</a:t>
            </a:r>
            <a:endParaRPr sz="2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8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s-CL" sz="2300">
                <a:solidFill>
                  <a:schemeClr val="dk1"/>
                </a:solidFill>
                <a:latin typeface="Calibri"/>
                <a:ea typeface="Calibri"/>
                <a:cs typeface="Calibri"/>
                <a:sym typeface="Calibri"/>
              </a:rPr>
              <a:t>Compatibilidad:</a:t>
            </a:r>
            <a:r>
              <a:rPr lang="es-CL" sz="2300">
                <a:solidFill>
                  <a:schemeClr val="dk1"/>
                </a:solidFill>
                <a:latin typeface="Calibri"/>
                <a:ea typeface="Calibri"/>
                <a:cs typeface="Calibri"/>
                <a:sym typeface="Calibri"/>
              </a:rPr>
              <a:t> El sistema debe ser accesible desde navegadores web modernos y dispositivos móviles</a:t>
            </a:r>
            <a:endParaRPr sz="2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s-CL" sz="2300">
                <a:solidFill>
                  <a:schemeClr val="dk1"/>
                </a:solidFill>
                <a:latin typeface="Calibri"/>
                <a:ea typeface="Calibri"/>
                <a:cs typeface="Calibri"/>
                <a:sym typeface="Calibri"/>
              </a:rPr>
              <a:t>Seguridad de acceso: </a:t>
            </a:r>
            <a:r>
              <a:rPr lang="es-CL" sz="2300">
                <a:solidFill>
                  <a:schemeClr val="dk1"/>
                </a:solidFill>
                <a:latin typeface="Calibri"/>
                <a:ea typeface="Calibri"/>
                <a:cs typeface="Calibri"/>
                <a:sym typeface="Calibri"/>
              </a:rPr>
              <a:t>El sistema debe implementar autenticación segura y control de acceso basado en roles y permisos.</a:t>
            </a:r>
            <a:endParaRPr sz="2300">
              <a:solidFill>
                <a:schemeClr val="dk1"/>
              </a:solidFill>
              <a:latin typeface="Calibri"/>
              <a:ea typeface="Calibri"/>
              <a:cs typeface="Calibri"/>
              <a:sym typeface="Calibri"/>
            </a:endParaRPr>
          </a:p>
        </p:txBody>
      </p:sp>
      <p:cxnSp>
        <p:nvCxnSpPr>
          <p:cNvPr id="198" name="Google Shape;198;p25"/>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Tree>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descr="EscuelaIT Duoc UC - Escuela de Informática y Telecomunicaciones Duoc UC - Duoc  UC | LinkedIn" id="203" name="Google Shape;203;p26"/>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04" name="Google Shape;204;p26"/>
          <p:cNvSpPr txBox="1"/>
          <p:nvPr/>
        </p:nvSpPr>
        <p:spPr>
          <a:xfrm>
            <a:off x="136188" y="368928"/>
            <a:ext cx="121920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solidFill>
                <a:schemeClr val="dk1"/>
              </a:solidFill>
            </a:endParaRPr>
          </a:p>
          <a:p>
            <a:pPr indent="0" lvl="0" marL="0" marR="0" rtl="0" algn="l">
              <a:spcBef>
                <a:spcPts val="0"/>
              </a:spcBef>
              <a:spcAft>
                <a:spcPts val="0"/>
              </a:spcAft>
              <a:buNone/>
            </a:pPr>
            <a:r>
              <a:t/>
            </a:r>
            <a:endParaRPr sz="1800">
              <a:solidFill>
                <a:srgbClr val="757070"/>
              </a:solidFill>
              <a:latin typeface="Calibri"/>
              <a:ea typeface="Calibri"/>
              <a:cs typeface="Calibri"/>
              <a:sym typeface="Calibri"/>
            </a:endParaRPr>
          </a:p>
        </p:txBody>
      </p:sp>
      <p:sp>
        <p:nvSpPr>
          <p:cNvPr id="205" name="Google Shape;205;p26"/>
          <p:cNvSpPr txBox="1"/>
          <p:nvPr/>
        </p:nvSpPr>
        <p:spPr>
          <a:xfrm>
            <a:off x="0" y="1432655"/>
            <a:ext cx="1219199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ESTÁNDARES DE CALIDAD - ISO25000 Y OTROS</a:t>
            </a:r>
            <a:endParaRPr/>
          </a:p>
        </p:txBody>
      </p:sp>
      <p:cxnSp>
        <p:nvCxnSpPr>
          <p:cNvPr id="206" name="Google Shape;206;p26"/>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
        <p:nvSpPr>
          <p:cNvPr id="207" name="Google Shape;207;p26"/>
          <p:cNvSpPr txBox="1"/>
          <p:nvPr/>
        </p:nvSpPr>
        <p:spPr>
          <a:xfrm>
            <a:off x="689600" y="2693675"/>
            <a:ext cx="10687200" cy="398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900">
                <a:solidFill>
                  <a:schemeClr val="dk1"/>
                </a:solidFill>
                <a:latin typeface="Calibri"/>
                <a:ea typeface="Calibri"/>
                <a:cs typeface="Calibri"/>
                <a:sym typeface="Calibri"/>
              </a:rPr>
              <a:t>El proyecto aplica el estándar ISO/IEC 25000 para evaluar el prototipo mediante atributos clave: Usabilidad (heurísticas de Nielsen), Seguridad (login), Eficiencia (transiciones &lt; 1s), Portabilidad (diseño responsivo) y Mantenibilidad (componentes reutilizables). La calidad se validará mediante Inspecciones Heurísticas y la Ejecución Manual de Casos de Prueba (QA) en los flujos de la interfaz. </a:t>
            </a:r>
            <a:endParaRPr sz="29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descr="EscuelaIT Duoc UC - Escuela de Informática y Telecomunicaciones Duoc UC - Duoc  UC | LinkedIn" id="212" name="Google Shape;212;p27"/>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13" name="Google Shape;213;p27"/>
          <p:cNvSpPr txBox="1"/>
          <p:nvPr/>
        </p:nvSpPr>
        <p:spPr>
          <a:xfrm>
            <a:off x="13" y="992898"/>
            <a:ext cx="12192000" cy="1139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DEMOSTRACIÓN DEL PROTOTIPO DE ALTA FIDELIDAD</a:t>
            </a:r>
            <a:endParaRPr/>
          </a:p>
          <a:p>
            <a:pPr indent="0" lvl="0" marL="0" marR="0" rtl="0" algn="ctr">
              <a:spcBef>
                <a:spcPts val="0"/>
              </a:spcBef>
              <a:spcAft>
                <a:spcPts val="0"/>
              </a:spcAft>
              <a:buNone/>
            </a:pPr>
            <a:r>
              <a:t/>
            </a:r>
            <a:endParaRPr sz="2400">
              <a:solidFill>
                <a:srgbClr val="757070"/>
              </a:solidFill>
              <a:latin typeface="Calibri"/>
              <a:ea typeface="Calibri"/>
              <a:cs typeface="Calibri"/>
              <a:sym typeface="Calibri"/>
            </a:endParaRPr>
          </a:p>
        </p:txBody>
      </p:sp>
      <p:sp>
        <p:nvSpPr>
          <p:cNvPr id="214" name="Google Shape;214;p27"/>
          <p:cNvSpPr txBox="1"/>
          <p:nvPr/>
        </p:nvSpPr>
        <p:spPr>
          <a:xfrm>
            <a:off x="2961300" y="1507400"/>
            <a:ext cx="6269400" cy="78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chemeClr val="dk1"/>
                </a:solidFill>
                <a:latin typeface="Calibri"/>
                <a:ea typeface="Calibri"/>
                <a:cs typeface="Calibri"/>
                <a:sym typeface="Calibri"/>
              </a:rPr>
              <a:t>Herramienta utilizada: Figma</a:t>
            </a:r>
            <a:endParaRPr sz="2800">
              <a:solidFill>
                <a:schemeClr val="dk1"/>
              </a:solidFill>
              <a:latin typeface="Calibri"/>
              <a:ea typeface="Calibri"/>
              <a:cs typeface="Calibri"/>
              <a:sym typeface="Calibri"/>
            </a:endParaRPr>
          </a:p>
        </p:txBody>
      </p:sp>
      <p:pic>
        <p:nvPicPr>
          <p:cNvPr id="215" name="Google Shape;215;p27" title="Screenshot_17.png"/>
          <p:cNvPicPr preferRelativeResize="0"/>
          <p:nvPr/>
        </p:nvPicPr>
        <p:blipFill>
          <a:blip r:embed="rId4">
            <a:alphaModFix/>
          </a:blip>
          <a:stretch>
            <a:fillRect/>
          </a:stretch>
        </p:blipFill>
        <p:spPr>
          <a:xfrm>
            <a:off x="1687400" y="2072050"/>
            <a:ext cx="8817202" cy="4785950"/>
          </a:xfrm>
          <a:prstGeom prst="rect">
            <a:avLst/>
          </a:prstGeom>
          <a:noFill/>
          <a:ln>
            <a:noFill/>
          </a:ln>
        </p:spPr>
      </p:pic>
    </p:spTree>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descr="EscuelaIT Duoc UC - Escuela de Informática y Telecomunicaciones Duoc UC - Duoc  UC | LinkedIn" id="220" name="Google Shape;220;p28"/>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21" name="Google Shape;221;p28"/>
          <p:cNvSpPr txBox="1"/>
          <p:nvPr/>
        </p:nvSpPr>
        <p:spPr>
          <a:xfrm>
            <a:off x="13" y="992898"/>
            <a:ext cx="12192000" cy="1139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DEMOSTRACIÓN DEL PROTOTIPO DE ALTA FIDELIDAD</a:t>
            </a:r>
            <a:endParaRPr/>
          </a:p>
          <a:p>
            <a:pPr indent="0" lvl="0" marL="0" marR="0" rtl="0" algn="ctr">
              <a:spcBef>
                <a:spcPts val="0"/>
              </a:spcBef>
              <a:spcAft>
                <a:spcPts val="0"/>
              </a:spcAft>
              <a:buNone/>
            </a:pPr>
            <a:r>
              <a:t/>
            </a:r>
            <a:endParaRPr sz="2400">
              <a:solidFill>
                <a:srgbClr val="757070"/>
              </a:solidFill>
              <a:latin typeface="Calibri"/>
              <a:ea typeface="Calibri"/>
              <a:cs typeface="Calibri"/>
              <a:sym typeface="Calibri"/>
            </a:endParaRPr>
          </a:p>
        </p:txBody>
      </p:sp>
      <p:sp>
        <p:nvSpPr>
          <p:cNvPr id="222" name="Google Shape;222;p28"/>
          <p:cNvSpPr txBox="1"/>
          <p:nvPr/>
        </p:nvSpPr>
        <p:spPr>
          <a:xfrm>
            <a:off x="2961300" y="1507400"/>
            <a:ext cx="6269400" cy="78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chemeClr val="dk1"/>
                </a:solidFill>
                <a:latin typeface="Calibri"/>
                <a:ea typeface="Calibri"/>
                <a:cs typeface="Calibri"/>
                <a:sym typeface="Calibri"/>
              </a:rPr>
              <a:t>Herramienta utilizada: Figma</a:t>
            </a:r>
            <a:endParaRPr sz="2800">
              <a:solidFill>
                <a:schemeClr val="dk1"/>
              </a:solidFill>
              <a:latin typeface="Calibri"/>
              <a:ea typeface="Calibri"/>
              <a:cs typeface="Calibri"/>
              <a:sym typeface="Calibri"/>
            </a:endParaRPr>
          </a:p>
        </p:txBody>
      </p:sp>
      <p:pic>
        <p:nvPicPr>
          <p:cNvPr id="223" name="Google Shape;223;p28" title="Screenshot_18.png"/>
          <p:cNvPicPr preferRelativeResize="0"/>
          <p:nvPr/>
        </p:nvPicPr>
        <p:blipFill rotWithShape="1">
          <a:blip r:embed="rId4">
            <a:alphaModFix/>
          </a:blip>
          <a:srcRect b="0" l="110" r="120" t="0"/>
          <a:stretch/>
        </p:blipFill>
        <p:spPr>
          <a:xfrm>
            <a:off x="1687400" y="2072050"/>
            <a:ext cx="8817200" cy="4785949"/>
          </a:xfrm>
          <a:prstGeom prst="rect">
            <a:avLst/>
          </a:prstGeom>
          <a:noFill/>
          <a:ln>
            <a:noFill/>
          </a:ln>
        </p:spPr>
      </p:pic>
    </p:spTree>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EscuelaIT Duoc UC - Escuela de Informática y Telecomunicaciones Duoc UC - Duoc  UC | LinkedIn" id="228" name="Google Shape;228;p29"/>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29" name="Google Shape;229;p29"/>
          <p:cNvSpPr txBox="1"/>
          <p:nvPr/>
        </p:nvSpPr>
        <p:spPr>
          <a:xfrm>
            <a:off x="13" y="992898"/>
            <a:ext cx="12192000" cy="1139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DEMOSTRACIÓN DEL PROTOTIPO DE ALTA FIDELIDAD</a:t>
            </a:r>
            <a:endParaRPr/>
          </a:p>
          <a:p>
            <a:pPr indent="0" lvl="0" marL="0" marR="0" rtl="0" algn="ctr">
              <a:spcBef>
                <a:spcPts val="0"/>
              </a:spcBef>
              <a:spcAft>
                <a:spcPts val="0"/>
              </a:spcAft>
              <a:buNone/>
            </a:pPr>
            <a:r>
              <a:t/>
            </a:r>
            <a:endParaRPr sz="2400">
              <a:solidFill>
                <a:srgbClr val="757070"/>
              </a:solidFill>
              <a:latin typeface="Calibri"/>
              <a:ea typeface="Calibri"/>
              <a:cs typeface="Calibri"/>
              <a:sym typeface="Calibri"/>
            </a:endParaRPr>
          </a:p>
        </p:txBody>
      </p:sp>
      <p:sp>
        <p:nvSpPr>
          <p:cNvPr id="230" name="Google Shape;230;p29"/>
          <p:cNvSpPr txBox="1"/>
          <p:nvPr/>
        </p:nvSpPr>
        <p:spPr>
          <a:xfrm>
            <a:off x="2961300" y="1507400"/>
            <a:ext cx="6269400" cy="78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chemeClr val="dk1"/>
                </a:solidFill>
                <a:latin typeface="Calibri"/>
                <a:ea typeface="Calibri"/>
                <a:cs typeface="Calibri"/>
                <a:sym typeface="Calibri"/>
              </a:rPr>
              <a:t>Herramienta utilizada: Figma</a:t>
            </a:r>
            <a:endParaRPr sz="2800">
              <a:solidFill>
                <a:schemeClr val="dk1"/>
              </a:solidFill>
              <a:latin typeface="Calibri"/>
              <a:ea typeface="Calibri"/>
              <a:cs typeface="Calibri"/>
              <a:sym typeface="Calibri"/>
            </a:endParaRPr>
          </a:p>
        </p:txBody>
      </p:sp>
      <p:pic>
        <p:nvPicPr>
          <p:cNvPr id="231" name="Google Shape;231;p29" title="Screenshot_19.png"/>
          <p:cNvPicPr preferRelativeResize="0"/>
          <p:nvPr/>
        </p:nvPicPr>
        <p:blipFill rotWithShape="1">
          <a:blip r:embed="rId4">
            <a:alphaModFix/>
          </a:blip>
          <a:srcRect b="0" l="169" r="169" t="0"/>
          <a:stretch/>
        </p:blipFill>
        <p:spPr>
          <a:xfrm>
            <a:off x="1687400" y="2072050"/>
            <a:ext cx="8817201" cy="4785951"/>
          </a:xfrm>
          <a:prstGeom prst="rect">
            <a:avLst/>
          </a:prstGeom>
          <a:noFill/>
          <a:ln>
            <a:noFill/>
          </a:ln>
        </p:spPr>
      </p:pic>
    </p:spTree>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EscuelaIT Duoc UC - Escuela de Informática y Telecomunicaciones Duoc UC - Duoc  UC | LinkedIn" id="236" name="Google Shape;236;p30"/>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37" name="Google Shape;237;p30"/>
          <p:cNvSpPr txBox="1"/>
          <p:nvPr/>
        </p:nvSpPr>
        <p:spPr>
          <a:xfrm>
            <a:off x="13" y="992898"/>
            <a:ext cx="12192000" cy="1139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DEMOSTRACIÓN DEL PROTOTIPO DE ALTA FIDELIDAD</a:t>
            </a:r>
            <a:endParaRPr/>
          </a:p>
          <a:p>
            <a:pPr indent="0" lvl="0" marL="0" marR="0" rtl="0" algn="ctr">
              <a:spcBef>
                <a:spcPts val="0"/>
              </a:spcBef>
              <a:spcAft>
                <a:spcPts val="0"/>
              </a:spcAft>
              <a:buNone/>
            </a:pPr>
            <a:r>
              <a:t/>
            </a:r>
            <a:endParaRPr sz="2400">
              <a:solidFill>
                <a:srgbClr val="757070"/>
              </a:solidFill>
              <a:latin typeface="Calibri"/>
              <a:ea typeface="Calibri"/>
              <a:cs typeface="Calibri"/>
              <a:sym typeface="Calibri"/>
            </a:endParaRPr>
          </a:p>
        </p:txBody>
      </p:sp>
      <p:sp>
        <p:nvSpPr>
          <p:cNvPr id="238" name="Google Shape;238;p30"/>
          <p:cNvSpPr txBox="1"/>
          <p:nvPr/>
        </p:nvSpPr>
        <p:spPr>
          <a:xfrm>
            <a:off x="2961300" y="1507400"/>
            <a:ext cx="6269400" cy="78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chemeClr val="dk1"/>
                </a:solidFill>
                <a:latin typeface="Calibri"/>
                <a:ea typeface="Calibri"/>
                <a:cs typeface="Calibri"/>
                <a:sym typeface="Calibri"/>
              </a:rPr>
              <a:t>Herramienta utilizada: Figma</a:t>
            </a:r>
            <a:endParaRPr sz="2800">
              <a:solidFill>
                <a:schemeClr val="dk1"/>
              </a:solidFill>
              <a:latin typeface="Calibri"/>
              <a:ea typeface="Calibri"/>
              <a:cs typeface="Calibri"/>
              <a:sym typeface="Calibri"/>
            </a:endParaRPr>
          </a:p>
        </p:txBody>
      </p:sp>
      <p:pic>
        <p:nvPicPr>
          <p:cNvPr id="239" name="Google Shape;239;p30" title="Screenshot_20.png"/>
          <p:cNvPicPr preferRelativeResize="0"/>
          <p:nvPr/>
        </p:nvPicPr>
        <p:blipFill rotWithShape="1">
          <a:blip r:embed="rId4">
            <a:alphaModFix/>
          </a:blip>
          <a:srcRect b="0" l="80" r="90" t="0"/>
          <a:stretch/>
        </p:blipFill>
        <p:spPr>
          <a:xfrm>
            <a:off x="1687400" y="2072050"/>
            <a:ext cx="8817201" cy="4785949"/>
          </a:xfrm>
          <a:prstGeom prst="rect">
            <a:avLst/>
          </a:prstGeom>
          <a:noFill/>
          <a:ln>
            <a:noFill/>
          </a:ln>
        </p:spPr>
      </p:pic>
    </p:spTree>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descr="EscuelaIT Duoc UC - Escuela de Informática y Telecomunicaciones Duoc UC - Duoc  UC | LinkedIn" id="244" name="Google Shape;244;p31"/>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45" name="Google Shape;245;p31"/>
          <p:cNvSpPr txBox="1"/>
          <p:nvPr/>
        </p:nvSpPr>
        <p:spPr>
          <a:xfrm>
            <a:off x="13" y="992898"/>
            <a:ext cx="12192000" cy="1139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DEMOSTRACIÓN DEL PROTOTIPO DE ALTA FIDELIDAD</a:t>
            </a:r>
            <a:endParaRPr/>
          </a:p>
          <a:p>
            <a:pPr indent="0" lvl="0" marL="0" marR="0" rtl="0" algn="ctr">
              <a:spcBef>
                <a:spcPts val="0"/>
              </a:spcBef>
              <a:spcAft>
                <a:spcPts val="0"/>
              </a:spcAft>
              <a:buNone/>
            </a:pPr>
            <a:r>
              <a:t/>
            </a:r>
            <a:endParaRPr sz="2400">
              <a:solidFill>
                <a:srgbClr val="757070"/>
              </a:solidFill>
              <a:latin typeface="Calibri"/>
              <a:ea typeface="Calibri"/>
              <a:cs typeface="Calibri"/>
              <a:sym typeface="Calibri"/>
            </a:endParaRPr>
          </a:p>
        </p:txBody>
      </p:sp>
      <p:sp>
        <p:nvSpPr>
          <p:cNvPr id="246" name="Google Shape;246;p31"/>
          <p:cNvSpPr txBox="1"/>
          <p:nvPr/>
        </p:nvSpPr>
        <p:spPr>
          <a:xfrm>
            <a:off x="2961300" y="1507400"/>
            <a:ext cx="6269400" cy="78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chemeClr val="dk1"/>
                </a:solidFill>
                <a:latin typeface="Calibri"/>
                <a:ea typeface="Calibri"/>
                <a:cs typeface="Calibri"/>
                <a:sym typeface="Calibri"/>
              </a:rPr>
              <a:t>Herramienta utilizada: Figma</a:t>
            </a:r>
            <a:endParaRPr sz="2800">
              <a:solidFill>
                <a:schemeClr val="dk1"/>
              </a:solidFill>
              <a:latin typeface="Calibri"/>
              <a:ea typeface="Calibri"/>
              <a:cs typeface="Calibri"/>
              <a:sym typeface="Calibri"/>
            </a:endParaRPr>
          </a:p>
        </p:txBody>
      </p:sp>
      <p:pic>
        <p:nvPicPr>
          <p:cNvPr id="247" name="Google Shape;247;p31" title="Screenshot_21.png"/>
          <p:cNvPicPr preferRelativeResize="0"/>
          <p:nvPr/>
        </p:nvPicPr>
        <p:blipFill rotWithShape="1">
          <a:blip r:embed="rId4">
            <a:alphaModFix/>
          </a:blip>
          <a:srcRect b="100" l="0" r="0" t="100"/>
          <a:stretch/>
        </p:blipFill>
        <p:spPr>
          <a:xfrm>
            <a:off x="1687400" y="2072050"/>
            <a:ext cx="8817203" cy="4785949"/>
          </a:xfrm>
          <a:prstGeom prst="rect">
            <a:avLst/>
          </a:prstGeom>
          <a:noFill/>
          <a:ln>
            <a:noFill/>
          </a:ln>
        </p:spPr>
      </p:pic>
    </p:spTree>
  </p:cSld>
  <p:clrMapOvr>
    <a:masterClrMapping/>
  </p:clrMapOvr>
  <p:transition spd="slow">
    <p:fade thruBlk="1"/>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descr="EscuelaIT Duoc UC - Escuela de Informática y Telecomunicaciones Duoc UC - Duoc  UC | LinkedIn" id="252" name="Google Shape;252;p32"/>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53" name="Google Shape;253;p32"/>
          <p:cNvSpPr txBox="1"/>
          <p:nvPr/>
        </p:nvSpPr>
        <p:spPr>
          <a:xfrm>
            <a:off x="1" y="992895"/>
            <a:ext cx="12192000" cy="144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HEURISTICA DE NIELSEN Y CASOS DE PRUEBA (ISO25000)</a:t>
            </a:r>
            <a:endParaRPr/>
          </a:p>
        </p:txBody>
      </p:sp>
      <p:pic>
        <p:nvPicPr>
          <p:cNvPr id="254" name="Google Shape;254;p32"/>
          <p:cNvPicPr preferRelativeResize="0"/>
          <p:nvPr/>
        </p:nvPicPr>
        <p:blipFill>
          <a:blip r:embed="rId4">
            <a:alphaModFix/>
          </a:blip>
          <a:stretch>
            <a:fillRect/>
          </a:stretch>
        </p:blipFill>
        <p:spPr>
          <a:xfrm>
            <a:off x="152400" y="6153095"/>
            <a:ext cx="11887200" cy="634429"/>
          </a:xfrm>
          <a:prstGeom prst="rect">
            <a:avLst/>
          </a:prstGeom>
          <a:noFill/>
          <a:ln>
            <a:noFill/>
          </a:ln>
        </p:spPr>
      </p:pic>
      <p:pic>
        <p:nvPicPr>
          <p:cNvPr id="255" name="Google Shape;255;p32"/>
          <p:cNvPicPr preferRelativeResize="0"/>
          <p:nvPr/>
        </p:nvPicPr>
        <p:blipFill>
          <a:blip r:embed="rId5">
            <a:alphaModFix/>
          </a:blip>
          <a:stretch>
            <a:fillRect/>
          </a:stretch>
        </p:blipFill>
        <p:spPr>
          <a:xfrm>
            <a:off x="3999950" y="2439795"/>
            <a:ext cx="7977734" cy="3408501"/>
          </a:xfrm>
          <a:prstGeom prst="rect">
            <a:avLst/>
          </a:prstGeom>
          <a:noFill/>
          <a:ln>
            <a:noFill/>
          </a:ln>
        </p:spPr>
      </p:pic>
      <p:sp>
        <p:nvSpPr>
          <p:cNvPr id="256" name="Google Shape;256;p32"/>
          <p:cNvSpPr txBox="1"/>
          <p:nvPr/>
        </p:nvSpPr>
        <p:spPr>
          <a:xfrm>
            <a:off x="162825" y="2299025"/>
            <a:ext cx="3736800" cy="370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Para garantizar la calidad bajo la norma ISO 25000, la Inspección Heurística detectó 11 observaciones de diseño con severidad 1 a 3, revelando mejoras críticas en visibilidad, prevención de errores y soporte al usuario. </a:t>
            </a:r>
            <a:r>
              <a:rPr lang="es-CL" sz="1800">
                <a:solidFill>
                  <a:schemeClr val="dk1"/>
                </a:solidFill>
                <a:latin typeface="Calibri"/>
                <a:ea typeface="Calibri"/>
                <a:cs typeface="Calibri"/>
                <a:sym typeface="Calibri"/>
              </a:rPr>
              <a:t>También</a:t>
            </a:r>
            <a:r>
              <a:rPr lang="es-CL" sz="1800">
                <a:solidFill>
                  <a:schemeClr val="dk1"/>
                </a:solidFill>
                <a:latin typeface="Calibri"/>
                <a:ea typeface="Calibri"/>
                <a:cs typeface="Calibri"/>
                <a:sym typeface="Calibri"/>
              </a:rPr>
              <a:t> se diseñó una matriz de casos de prueba </a:t>
            </a:r>
            <a:r>
              <a:rPr lang="es-CL" sz="1800">
                <a:solidFill>
                  <a:schemeClr val="dk1"/>
                </a:solidFill>
                <a:latin typeface="Calibri"/>
                <a:ea typeface="Calibri"/>
                <a:cs typeface="Calibri"/>
                <a:sym typeface="Calibri"/>
              </a:rPr>
              <a:t>para validar </a:t>
            </a:r>
            <a:r>
              <a:rPr lang="es-CL" sz="1800">
                <a:solidFill>
                  <a:schemeClr val="dk1"/>
                </a:solidFill>
                <a:latin typeface="Calibri"/>
                <a:ea typeface="Calibri"/>
                <a:cs typeface="Calibri"/>
                <a:sym typeface="Calibri"/>
              </a:rPr>
              <a:t>manualmente los flujos de login (con datos válidos e incorrectos) y las funciones clave de visualización de deudas, pagos y descargas del residente. </a:t>
            </a:r>
            <a:endParaRPr sz="35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descr="EscuelaIT Duoc UC - Escuela de Informática y Telecomunicaciones Duoc UC - Duoc  UC | LinkedIn" id="261" name="Google Shape;261;p33"/>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62" name="Google Shape;262;p33"/>
          <p:cNvSpPr txBox="1"/>
          <p:nvPr/>
        </p:nvSpPr>
        <p:spPr>
          <a:xfrm>
            <a:off x="1" y="1360773"/>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ACCIONES DE MEJORA Y CONTROL DE VERSIONES</a:t>
            </a:r>
            <a:endParaRPr/>
          </a:p>
        </p:txBody>
      </p:sp>
      <p:sp>
        <p:nvSpPr>
          <p:cNvPr id="263" name="Google Shape;263;p33"/>
          <p:cNvSpPr txBox="1"/>
          <p:nvPr/>
        </p:nvSpPr>
        <p:spPr>
          <a:xfrm>
            <a:off x="2506600" y="2466950"/>
            <a:ext cx="5962200" cy="278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400">
                <a:solidFill>
                  <a:schemeClr val="dk1"/>
                </a:solidFill>
                <a:latin typeface="Calibri"/>
                <a:ea typeface="Calibri"/>
                <a:cs typeface="Calibri"/>
                <a:sym typeface="Calibri"/>
              </a:rPr>
              <a:t>Para las acciones de mejora, se implementaron correcciones visuales en el prototipo basadas en los hallazgos de la inspección heurística. En cuanto al control de versiones, se utilizó el sistema </a:t>
            </a:r>
            <a:r>
              <a:rPr lang="es-CL" sz="2400">
                <a:solidFill>
                  <a:schemeClr val="dk1"/>
                </a:solidFill>
                <a:latin typeface="Calibri"/>
                <a:ea typeface="Calibri"/>
                <a:cs typeface="Calibri"/>
                <a:sym typeface="Calibri"/>
              </a:rPr>
              <a:t>cronológico</a:t>
            </a:r>
            <a:r>
              <a:rPr lang="es-CL" sz="2400">
                <a:solidFill>
                  <a:schemeClr val="dk1"/>
                </a:solidFill>
                <a:latin typeface="Calibri"/>
                <a:ea typeface="Calibri"/>
                <a:cs typeface="Calibri"/>
                <a:sym typeface="Calibri"/>
              </a:rPr>
              <a:t> de Figma para respaldar de forma iterativa los cambios en el diseño de la interfaz, mientras que para la entrega final de la documentación y los archivos del proyecto se empleo el sistema </a:t>
            </a:r>
            <a:r>
              <a:rPr lang="es-CL" sz="2400">
                <a:solidFill>
                  <a:schemeClr val="dk1"/>
                </a:solidFill>
                <a:latin typeface="Calibri"/>
                <a:ea typeface="Calibri"/>
                <a:cs typeface="Calibri"/>
                <a:sym typeface="Calibri"/>
              </a:rPr>
              <a:t>semántico</a:t>
            </a:r>
            <a:r>
              <a:rPr lang="es-CL" sz="2400">
                <a:solidFill>
                  <a:schemeClr val="dk1"/>
                </a:solidFill>
                <a:latin typeface="Calibri"/>
                <a:ea typeface="Calibri"/>
                <a:cs typeface="Calibri"/>
                <a:sym typeface="Calibri"/>
              </a:rPr>
              <a:t> de GitHub y utilizando este como repositorio central. </a:t>
            </a:r>
            <a:endParaRPr sz="4100">
              <a:solidFill>
                <a:schemeClr val="dk1"/>
              </a:solidFill>
              <a:latin typeface="Calibri"/>
              <a:ea typeface="Calibri"/>
              <a:cs typeface="Calibri"/>
              <a:sym typeface="Calibri"/>
            </a:endParaRPr>
          </a:p>
        </p:txBody>
      </p:sp>
      <p:pic>
        <p:nvPicPr>
          <p:cNvPr id="264" name="Google Shape;264;p33"/>
          <p:cNvPicPr preferRelativeResize="0"/>
          <p:nvPr/>
        </p:nvPicPr>
        <p:blipFill>
          <a:blip r:embed="rId4">
            <a:alphaModFix/>
          </a:blip>
          <a:stretch>
            <a:fillRect/>
          </a:stretch>
        </p:blipFill>
        <p:spPr>
          <a:xfrm>
            <a:off x="130750" y="2772812"/>
            <a:ext cx="2230951" cy="3344799"/>
          </a:xfrm>
          <a:prstGeom prst="rect">
            <a:avLst/>
          </a:prstGeom>
          <a:noFill/>
          <a:ln>
            <a:noFill/>
          </a:ln>
        </p:spPr>
      </p:pic>
      <p:pic>
        <p:nvPicPr>
          <p:cNvPr id="265" name="Google Shape;265;p33"/>
          <p:cNvPicPr preferRelativeResize="0"/>
          <p:nvPr/>
        </p:nvPicPr>
        <p:blipFill>
          <a:blip r:embed="rId5">
            <a:alphaModFix/>
          </a:blip>
          <a:stretch>
            <a:fillRect/>
          </a:stretch>
        </p:blipFill>
        <p:spPr>
          <a:xfrm>
            <a:off x="8613688" y="2716050"/>
            <a:ext cx="3458324" cy="3458324"/>
          </a:xfrm>
          <a:prstGeom prst="rect">
            <a:avLst/>
          </a:prstGeom>
          <a:noFill/>
          <a:ln>
            <a:noFill/>
          </a:ln>
        </p:spPr>
      </p:pic>
    </p:spTree>
  </p:cSld>
  <p:clrMapOvr>
    <a:masterClrMapping/>
  </p:clrMapOvr>
  <p:transition spd="slow">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descr="EscuelaIT Duoc UC - Escuela de Informática y Telecomunicaciones Duoc UC - Duoc  UC | LinkedIn" id="270" name="Google Shape;270;p34"/>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71" name="Google Shape;271;p34"/>
          <p:cNvSpPr txBox="1"/>
          <p:nvPr/>
        </p:nvSpPr>
        <p:spPr>
          <a:xfrm>
            <a:off x="0" y="3044279"/>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PREGUNTAS DE LA COMISIÓN</a:t>
            </a:r>
            <a:endParaRPr/>
          </a:p>
        </p:txBody>
      </p:sp>
    </p:spTree>
  </p:cSld>
  <p:clrMapOvr>
    <a:masterClrMapping/>
  </p:clrMapOvr>
  <p:transition spd="slow">
    <p:fade thruBlk="1"/>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